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6921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1-2 minute overview video on this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0261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2BBE3F"/>
                </a:solidFill>
                <a:latin typeface="Poppins" pitchFamily="34" charset="0"/>
                <a:ea typeface="Poppins" pitchFamily="34" charset="-122"/>
                <a:cs typeface="Poppins"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36700"/>
            <a:ext cx="10566400" cy="4508500"/>
          </a:xfrm>
          <a:prstGeom prst="rect">
            <a:avLst/>
          </a:prstGeom>
          <a:noFill/>
          <a:ln/>
        </p:spPr>
        <p:txBody>
          <a:bodyPr wrap="square" lIns="0" tIns="0" rIns="0" bIns="0" rtlCol="0" anchor="t"/>
          <a:lstStyle>
            <a:lvl1pPr marL="0" indent="0" algn="l">
              <a:lnSpc>
                <a:spcPct val="140000"/>
              </a:lnSpc>
              <a:buNone/>
              <a:defRPr lang="en-US" sz="1600" dirty="0">
                <a:solidFill>
                  <a:srgbClr val="2BBE3F"/>
                </a:solidFill>
                <a:latin typeface="Poppins" pitchFamily="34" charset="0"/>
                <a:ea typeface="Poppins" pitchFamily="34" charset="-122"/>
                <a:cs typeface="Poppi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61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2BBE3F"/>
                </a:solidFill>
                <a:latin typeface="Poppins" pitchFamily="34" charset="0"/>
                <a:ea typeface="Poppins" pitchFamily="34" charset="-122"/>
                <a:cs typeface="Poppins"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36700"/>
            <a:ext cx="10566400" cy="4508500"/>
          </a:xfrm>
          <a:prstGeom prst="rect">
            <a:avLst/>
          </a:prstGeom>
          <a:noFill/>
          <a:ln/>
        </p:spPr>
        <p:txBody>
          <a:bodyPr wrap="square" lIns="0" tIns="0" rIns="0" bIns="0" rtlCol="0" anchor="t"/>
          <a:lstStyle>
            <a:lvl1pPr marL="0" indent="0" algn="l">
              <a:lnSpc>
                <a:spcPct val="140000"/>
              </a:lnSpc>
              <a:buNone/>
              <a:defRPr lang="en-US" sz="1600" dirty="0">
                <a:solidFill>
                  <a:srgbClr val="2BBE3F"/>
                </a:solidFill>
                <a:latin typeface="Poppins" pitchFamily="34" charset="0"/>
                <a:ea typeface="Poppins" pitchFamily="34" charset="-122"/>
                <a:cs typeface="Poppi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004060"/>
            <a:ext cx="7521575" cy="214884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E3F5E1"/>
                </a:solidFill>
                <a:latin typeface="Poppins" pitchFamily="34" charset="0"/>
                <a:ea typeface="Poppins" pitchFamily="34" charset="-122"/>
                <a:cs typeface="Poppins" pitchFamily="34" charset="-120"/>
              </a:rPr>
              <a:t>Secure Microfinance and Welfare Management Platform using Blockchain and AI</a:t>
            </a:r>
            <a:endParaRPr lang="en-US" sz="3800" dirty="0"/>
          </a:p>
        </p:txBody>
      </p:sp>
      <p:sp>
        <p:nvSpPr>
          <p:cNvPr id="3" name="Text 1"/>
          <p:cNvSpPr/>
          <p:nvPr/>
        </p:nvSpPr>
        <p:spPr>
          <a:xfrm>
            <a:off x="812800" y="4330700"/>
            <a:ext cx="10883392"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BE3F"/>
                </a:solidFill>
                <a:latin typeface="Poppins" pitchFamily="34" charset="0"/>
                <a:ea typeface="Poppins" pitchFamily="34" charset="-122"/>
                <a:cs typeface="Poppins" pitchFamily="34" charset="-120"/>
              </a:rPr>
              <a:t>SmartGrama  |  Progress Presentation 1  |  Project ID: R26-IT-017</a:t>
            </a:r>
            <a:endParaRPr lang="en-US" sz="1800" dirty="0"/>
          </a:p>
        </p:txBody>
      </p:sp>
      <p:pic>
        <p:nvPicPr>
          <p:cNvPr id="4" name="Image 0" descr="SmartGrama logo"/>
          <p:cNvPicPr>
            <a:picLocks noChangeAspect="1"/>
          </p:cNvPicPr>
          <p:nvPr/>
        </p:nvPicPr>
        <p:blipFill>
          <a:blip r:embed="rId3"/>
          <a:srcRect/>
          <a:stretch/>
        </p:blipFill>
        <p:spPr>
          <a:xfrm>
            <a:off x="8839200" y="1905000"/>
            <a:ext cx="2540000" cy="2540000"/>
          </a:xfrm>
          <a:prstGeom prst="ellipse">
            <a:avLst/>
          </a:prstGeom>
        </p:spPr>
      </p:pic>
      <p:sp>
        <p:nvSpPr>
          <p:cNvPr id="5" name="Text 2"/>
          <p:cNvSpPr/>
          <p:nvPr/>
        </p:nvSpPr>
        <p:spPr>
          <a:xfrm>
            <a:off x="812800" y="6238240"/>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6" name="Text 3"/>
          <p:cNvSpPr/>
          <p:nvPr/>
        </p:nvSpPr>
        <p:spPr>
          <a:xfrm>
            <a:off x="10566400" y="6238240"/>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BBE3F"/>
                </a:solidFill>
                <a:latin typeface="Poppins" pitchFamily="34" charset="0"/>
                <a:ea typeface="Poppins" pitchFamily="34" charset="-122"/>
                <a:cs typeface="Poppins" pitchFamily="34" charset="-120"/>
              </a:rPr>
              <a:t>Research Team</a:t>
            </a:r>
            <a:endParaRPr lang="en-US" sz="3000" dirty="0"/>
          </a:p>
        </p:txBody>
      </p:sp>
      <p:sp>
        <p:nvSpPr>
          <p:cNvPr id="3" name="Text 1"/>
          <p:cNvSpPr/>
          <p:nvPr/>
        </p:nvSpPr>
        <p:spPr>
          <a:xfrm>
            <a:off x="812800" y="1485900"/>
            <a:ext cx="10883392" cy="5943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3F5E1"/>
                </a:solidFill>
                <a:latin typeface="Poppins" pitchFamily="34" charset="0"/>
                <a:ea typeface="Poppins" pitchFamily="34" charset="-122"/>
                <a:cs typeface="Poppins" pitchFamily="34" charset="-120"/>
              </a:rPr>
              <a:t>Supervisor:</a:t>
            </a:r>
            <a:r>
              <a:rPr lang="en-US" sz="1600" dirty="0">
                <a:solidFill>
                  <a:srgbClr val="E3F5E1"/>
                </a:solidFill>
                <a:latin typeface="Poppins" pitchFamily="34" charset="0"/>
                <a:ea typeface="Poppins" pitchFamily="34" charset="-122"/>
                <a:cs typeface="Poppins" pitchFamily="34" charset="-120"/>
              </a:rPr>
              <a:t> Dr Dharshana Kasthurirathna</a:t>
            </a:r>
            <a:endParaRPr lang="en-US" sz="1600" dirty="0"/>
          </a:p>
          <a:p>
            <a:pPr marL="0" indent="0" algn="l">
              <a:lnSpc>
                <a:spcPts val="2240"/>
              </a:lnSpc>
              <a:buNone/>
            </a:pPr>
            <a:r>
              <a:rPr lang="en-US" sz="1600" b="1" dirty="0">
                <a:solidFill>
                  <a:srgbClr val="E3F5E1"/>
                </a:solidFill>
                <a:latin typeface="Poppins" pitchFamily="34" charset="0"/>
                <a:ea typeface="Poppins" pitchFamily="34" charset="-122"/>
                <a:cs typeface="Poppins" pitchFamily="34" charset="-120"/>
              </a:rPr>
              <a:t>Co-Supervisor:</a:t>
            </a:r>
            <a:r>
              <a:rPr lang="en-US" sz="1600" dirty="0">
                <a:solidFill>
                  <a:srgbClr val="E3F5E1"/>
                </a:solidFill>
                <a:latin typeface="Poppins" pitchFamily="34" charset="0"/>
                <a:ea typeface="Poppins" pitchFamily="34" charset="-122"/>
                <a:cs typeface="Poppins" pitchFamily="34" charset="-120"/>
              </a:rPr>
              <a:t> Mrs Chathurya Kumarapperuma</a:t>
            </a:r>
            <a:endParaRPr lang="en-US" sz="1600" dirty="0"/>
          </a:p>
        </p:txBody>
      </p:sp>
      <p:pic>
        <p:nvPicPr>
          <p:cNvPr id="4" name="Image 0" descr="Tharushika A.J.M.H"/>
          <p:cNvPicPr>
            <a:picLocks noChangeAspect="1"/>
          </p:cNvPicPr>
          <p:nvPr/>
        </p:nvPicPr>
        <p:blipFill>
          <a:blip r:embed="rId3"/>
          <a:srcRect/>
          <a:stretch/>
        </p:blipFill>
        <p:spPr>
          <a:xfrm>
            <a:off x="1231900" y="2308860"/>
            <a:ext cx="1651000" cy="1651000"/>
          </a:xfrm>
          <a:prstGeom prst="ellipse">
            <a:avLst/>
          </a:prstGeom>
        </p:spPr>
      </p:pic>
      <p:sp>
        <p:nvSpPr>
          <p:cNvPr id="5" name="Text 2"/>
          <p:cNvSpPr/>
          <p:nvPr/>
        </p:nvSpPr>
        <p:spPr>
          <a:xfrm>
            <a:off x="926695" y="4036060"/>
            <a:ext cx="2261330" cy="254000"/>
          </a:xfrm>
          <a:prstGeom prst="rect">
            <a:avLst/>
          </a:prstGeom>
          <a:noFill/>
          <a:ln/>
        </p:spPr>
        <p:txBody>
          <a:bodyPr wrap="square" lIns="0" tIns="0" rIns="0" bIns="0" rtlCol="0" anchor="t">
            <a:normAutofit/>
          </a:bodyPr>
          <a:lstStyle/>
          <a:p>
            <a:pPr marL="0" indent="0" algn="ctr">
              <a:lnSpc>
                <a:spcPts val="1800"/>
              </a:lnSpc>
              <a:buNone/>
            </a:pPr>
            <a:r>
              <a:rPr lang="en-US" sz="1500" b="1" dirty="0">
                <a:solidFill>
                  <a:srgbClr val="E3F5E1"/>
                </a:solidFill>
                <a:latin typeface="Poppins" pitchFamily="34" charset="0"/>
                <a:ea typeface="Poppins" pitchFamily="34" charset="-122"/>
                <a:cs typeface="Poppins" pitchFamily="34" charset="-120"/>
              </a:rPr>
              <a:t>Tharushika A.J.M.H</a:t>
            </a:r>
            <a:endParaRPr lang="en-US" sz="1500" dirty="0"/>
          </a:p>
        </p:txBody>
      </p:sp>
      <p:sp>
        <p:nvSpPr>
          <p:cNvPr id="6" name="Text 3"/>
          <p:cNvSpPr/>
          <p:nvPr/>
        </p:nvSpPr>
        <p:spPr>
          <a:xfrm>
            <a:off x="1386650" y="4340860"/>
            <a:ext cx="1341501"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9FC8B0"/>
                </a:solidFill>
                <a:latin typeface="Poppins" pitchFamily="34" charset="0"/>
                <a:ea typeface="Poppins" pitchFamily="34" charset="-122"/>
                <a:cs typeface="Poppins" pitchFamily="34" charset="-120"/>
              </a:rPr>
              <a:t>Group Leader</a:t>
            </a:r>
            <a:endParaRPr lang="en-US" sz="1300" dirty="0"/>
          </a:p>
        </p:txBody>
      </p:sp>
      <p:pic>
        <p:nvPicPr>
          <p:cNvPr id="7" name="Image 1" descr="Dissanayaka D.M.Y.R"/>
          <p:cNvPicPr>
            <a:picLocks noChangeAspect="1"/>
          </p:cNvPicPr>
          <p:nvPr/>
        </p:nvPicPr>
        <p:blipFill>
          <a:blip r:embed="rId4"/>
          <a:srcRect/>
          <a:stretch/>
        </p:blipFill>
        <p:spPr>
          <a:xfrm>
            <a:off x="3924300" y="2308860"/>
            <a:ext cx="1651000" cy="1651000"/>
          </a:xfrm>
          <a:prstGeom prst="ellipse">
            <a:avLst/>
          </a:prstGeom>
        </p:spPr>
      </p:pic>
      <p:sp>
        <p:nvSpPr>
          <p:cNvPr id="8" name="Text 4"/>
          <p:cNvSpPr/>
          <p:nvPr/>
        </p:nvSpPr>
        <p:spPr>
          <a:xfrm>
            <a:off x="3514884" y="4036060"/>
            <a:ext cx="2469833" cy="254000"/>
          </a:xfrm>
          <a:prstGeom prst="rect">
            <a:avLst/>
          </a:prstGeom>
          <a:noFill/>
          <a:ln/>
        </p:spPr>
        <p:txBody>
          <a:bodyPr wrap="square" lIns="0" tIns="0" rIns="0" bIns="0" rtlCol="0" anchor="t">
            <a:normAutofit/>
          </a:bodyPr>
          <a:lstStyle/>
          <a:p>
            <a:pPr marL="0" indent="0" algn="ctr">
              <a:lnSpc>
                <a:spcPts val="1800"/>
              </a:lnSpc>
              <a:buNone/>
            </a:pPr>
            <a:r>
              <a:rPr lang="en-US" sz="1500" b="1" dirty="0">
                <a:solidFill>
                  <a:srgbClr val="E3F5E1"/>
                </a:solidFill>
                <a:latin typeface="Poppins" pitchFamily="34" charset="0"/>
                <a:ea typeface="Poppins" pitchFamily="34" charset="-122"/>
                <a:cs typeface="Poppins" pitchFamily="34" charset="-120"/>
              </a:rPr>
              <a:t>Dissanayaka D.M.Y.R</a:t>
            </a:r>
            <a:endParaRPr lang="en-US" sz="1500" dirty="0"/>
          </a:p>
        </p:txBody>
      </p:sp>
      <p:sp>
        <p:nvSpPr>
          <p:cNvPr id="9" name="Text 5"/>
          <p:cNvSpPr/>
          <p:nvPr/>
        </p:nvSpPr>
        <p:spPr>
          <a:xfrm>
            <a:off x="4001429" y="4340860"/>
            <a:ext cx="1496663"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9FC8B0"/>
                </a:solidFill>
                <a:latin typeface="Poppins" pitchFamily="34" charset="0"/>
                <a:ea typeface="Poppins" pitchFamily="34" charset="-122"/>
                <a:cs typeface="Poppins" pitchFamily="34" charset="-120"/>
              </a:rPr>
              <a:t>Group Member</a:t>
            </a:r>
            <a:endParaRPr lang="en-US" sz="1300" dirty="0"/>
          </a:p>
        </p:txBody>
      </p:sp>
      <p:pic>
        <p:nvPicPr>
          <p:cNvPr id="10" name="Image 2" descr="Muthukumarana H.T.D.E"/>
          <p:cNvPicPr>
            <a:picLocks noChangeAspect="1"/>
          </p:cNvPicPr>
          <p:nvPr/>
        </p:nvPicPr>
        <p:blipFill>
          <a:blip r:embed="rId5"/>
          <a:srcRect/>
          <a:stretch/>
        </p:blipFill>
        <p:spPr>
          <a:xfrm>
            <a:off x="6616700" y="2308860"/>
            <a:ext cx="1651000" cy="1651000"/>
          </a:xfrm>
          <a:prstGeom prst="ellipse">
            <a:avLst/>
          </a:prstGeom>
        </p:spPr>
      </p:pic>
      <p:sp>
        <p:nvSpPr>
          <p:cNvPr id="11" name="Text 6"/>
          <p:cNvSpPr/>
          <p:nvPr/>
        </p:nvSpPr>
        <p:spPr>
          <a:xfrm>
            <a:off x="6015990" y="4036060"/>
            <a:ext cx="2852420" cy="254000"/>
          </a:xfrm>
          <a:prstGeom prst="rect">
            <a:avLst/>
          </a:prstGeom>
          <a:noFill/>
          <a:ln/>
        </p:spPr>
        <p:txBody>
          <a:bodyPr wrap="square" lIns="0" tIns="0" rIns="0" bIns="0" rtlCol="0" anchor="t">
            <a:normAutofit/>
          </a:bodyPr>
          <a:lstStyle/>
          <a:p>
            <a:pPr marL="0" indent="0" algn="ctr">
              <a:lnSpc>
                <a:spcPts val="1800"/>
              </a:lnSpc>
              <a:buNone/>
            </a:pPr>
            <a:r>
              <a:rPr lang="en-US" sz="1500" b="1" dirty="0">
                <a:solidFill>
                  <a:srgbClr val="E3F5E1"/>
                </a:solidFill>
                <a:latin typeface="Poppins" pitchFamily="34" charset="0"/>
                <a:ea typeface="Poppins" pitchFamily="34" charset="-122"/>
                <a:cs typeface="Poppins" pitchFamily="34" charset="-120"/>
              </a:rPr>
              <a:t>Muthukumarana H.T.D.E</a:t>
            </a:r>
            <a:endParaRPr lang="en-US" sz="1500" dirty="0"/>
          </a:p>
        </p:txBody>
      </p:sp>
      <p:sp>
        <p:nvSpPr>
          <p:cNvPr id="12" name="Text 7"/>
          <p:cNvSpPr/>
          <p:nvPr/>
        </p:nvSpPr>
        <p:spPr>
          <a:xfrm>
            <a:off x="6693829" y="4340860"/>
            <a:ext cx="1496663"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9FC8B0"/>
                </a:solidFill>
                <a:latin typeface="Poppins" pitchFamily="34" charset="0"/>
                <a:ea typeface="Poppins" pitchFamily="34" charset="-122"/>
                <a:cs typeface="Poppins" pitchFamily="34" charset="-120"/>
              </a:rPr>
              <a:t>Group Member</a:t>
            </a:r>
            <a:endParaRPr lang="en-US" sz="1300" dirty="0"/>
          </a:p>
        </p:txBody>
      </p:sp>
      <p:pic>
        <p:nvPicPr>
          <p:cNvPr id="13" name="Image 3" descr="Jayasinghe A.I"/>
          <p:cNvPicPr>
            <a:picLocks noChangeAspect="1"/>
          </p:cNvPicPr>
          <p:nvPr/>
        </p:nvPicPr>
        <p:blipFill>
          <a:blip r:embed="rId6"/>
          <a:srcRect/>
          <a:stretch/>
        </p:blipFill>
        <p:spPr>
          <a:xfrm>
            <a:off x="9309100" y="2308860"/>
            <a:ext cx="1651000" cy="1651000"/>
          </a:xfrm>
          <a:prstGeom prst="ellipse">
            <a:avLst/>
          </a:prstGeom>
        </p:spPr>
      </p:pic>
      <p:sp>
        <p:nvSpPr>
          <p:cNvPr id="14" name="Text 8"/>
          <p:cNvSpPr/>
          <p:nvPr/>
        </p:nvSpPr>
        <p:spPr>
          <a:xfrm>
            <a:off x="9267063" y="4036060"/>
            <a:ext cx="1735074" cy="254000"/>
          </a:xfrm>
          <a:prstGeom prst="rect">
            <a:avLst/>
          </a:prstGeom>
          <a:noFill/>
          <a:ln/>
        </p:spPr>
        <p:txBody>
          <a:bodyPr wrap="square" lIns="0" tIns="0" rIns="0" bIns="0" rtlCol="0" anchor="t">
            <a:normAutofit/>
          </a:bodyPr>
          <a:lstStyle/>
          <a:p>
            <a:pPr marL="0" indent="0" algn="ctr">
              <a:lnSpc>
                <a:spcPts val="1800"/>
              </a:lnSpc>
              <a:buNone/>
            </a:pPr>
            <a:r>
              <a:rPr lang="en-US" sz="1500" b="1" dirty="0">
                <a:solidFill>
                  <a:srgbClr val="E3F5E1"/>
                </a:solidFill>
                <a:latin typeface="Poppins" pitchFamily="34" charset="0"/>
                <a:ea typeface="Poppins" pitchFamily="34" charset="-122"/>
                <a:cs typeface="Poppins" pitchFamily="34" charset="-120"/>
              </a:rPr>
              <a:t>Jayasinghe A.I</a:t>
            </a:r>
            <a:endParaRPr lang="en-US" sz="1500" dirty="0"/>
          </a:p>
        </p:txBody>
      </p:sp>
      <p:sp>
        <p:nvSpPr>
          <p:cNvPr id="15" name="Text 9"/>
          <p:cNvSpPr/>
          <p:nvPr/>
        </p:nvSpPr>
        <p:spPr>
          <a:xfrm>
            <a:off x="9386229" y="4340860"/>
            <a:ext cx="1496663"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9FC8B0"/>
                </a:solidFill>
                <a:latin typeface="Poppins" pitchFamily="34" charset="0"/>
                <a:ea typeface="Poppins" pitchFamily="34" charset="-122"/>
                <a:cs typeface="Poppins" pitchFamily="34" charset="-120"/>
              </a:rPr>
              <a:t>Group Member</a:t>
            </a:r>
            <a:endParaRPr lang="en-US" sz="1300" dirty="0"/>
          </a:p>
        </p:txBody>
      </p:sp>
      <p:sp>
        <p:nvSpPr>
          <p:cNvPr id="16" name="Text 10"/>
          <p:cNvSpPr/>
          <p:nvPr/>
        </p:nvSpPr>
        <p:spPr>
          <a:xfrm>
            <a:off x="812800" y="6238241"/>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17" name="Text 11"/>
          <p:cNvSpPr/>
          <p:nvPr/>
        </p:nvSpPr>
        <p:spPr>
          <a:xfrm>
            <a:off x="4787900" y="6238241"/>
            <a:ext cx="26162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FC8B0"/>
                </a:solidFill>
                <a:latin typeface="Poppins" pitchFamily="34" charset="0"/>
                <a:ea typeface="Poppins" pitchFamily="34" charset="-122"/>
                <a:cs typeface="Poppins" pitchFamily="34" charset="-120"/>
              </a:rPr>
              <a:t>R26-IT-017</a:t>
            </a:r>
            <a:endParaRPr lang="en-US" sz="1200" dirty="0"/>
          </a:p>
        </p:txBody>
      </p:sp>
      <p:sp>
        <p:nvSpPr>
          <p:cNvPr id="18" name="Text 12"/>
          <p:cNvSpPr/>
          <p:nvPr/>
        </p:nvSpPr>
        <p:spPr>
          <a:xfrm>
            <a:off x="10566400" y="623824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50008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BBE3F"/>
                </a:solidFill>
                <a:latin typeface="Poppins" pitchFamily="34" charset="0"/>
                <a:ea typeface="Poppins" pitchFamily="34" charset="-122"/>
                <a:cs typeface="Poppins" pitchFamily="34" charset="-120"/>
              </a:rPr>
              <a:t>Proposal Comments and How We Addressed Them</a:t>
            </a:r>
            <a:endParaRPr lang="en-US" sz="3000" dirty="0"/>
          </a:p>
        </p:txBody>
      </p:sp>
      <p:sp>
        <p:nvSpPr>
          <p:cNvPr id="3" name="Shape 1"/>
          <p:cNvSpPr/>
          <p:nvPr/>
        </p:nvSpPr>
        <p:spPr>
          <a:xfrm>
            <a:off x="843534" y="1440815"/>
            <a:ext cx="3606800" cy="4484856"/>
          </a:xfrm>
          <a:prstGeom prst="roundRect">
            <a:avLst>
              <a:gd name="adj" fmla="val 6878"/>
            </a:avLst>
          </a:prstGeom>
          <a:solidFill>
            <a:srgbClr val="F3F5F1"/>
          </a:solidFill>
          <a:ln/>
        </p:spPr>
        <p:txBody>
          <a:bodyPr/>
          <a:lstStyle/>
          <a:p>
            <a:endParaRPr lang="en-US" dirty="0"/>
          </a:p>
        </p:txBody>
      </p:sp>
      <p:sp>
        <p:nvSpPr>
          <p:cNvPr id="4" name="Text 2"/>
          <p:cNvSpPr/>
          <p:nvPr/>
        </p:nvSpPr>
        <p:spPr>
          <a:xfrm>
            <a:off x="1041400" y="1714500"/>
            <a:ext cx="324408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Proposal comment</a:t>
            </a:r>
            <a:endParaRPr lang="en-US" sz="1700" dirty="0"/>
          </a:p>
        </p:txBody>
      </p:sp>
      <p:sp>
        <p:nvSpPr>
          <p:cNvPr id="5" name="Text 3"/>
          <p:cNvSpPr/>
          <p:nvPr/>
        </p:nvSpPr>
        <p:spPr>
          <a:xfrm>
            <a:off x="1106170" y="2075180"/>
            <a:ext cx="3179318" cy="1054100"/>
          </a:xfrm>
          <a:prstGeom prst="rect">
            <a:avLst/>
          </a:prstGeom>
          <a:noFill/>
          <a:ln/>
        </p:spPr>
        <p:txBody>
          <a:bodyPr wrap="square" lIns="0" tIns="0" rIns="0" bIns="0" rtlCol="0" anchor="t">
            <a:noAutofit/>
          </a:bodyPr>
          <a:lstStyle/>
          <a:p>
            <a:pPr marL="189230" indent="-189230">
              <a:lnSpc>
                <a:spcPts val="2025"/>
              </a:lnSpc>
              <a:buSzPct val="100000"/>
              <a:buChar char="•"/>
            </a:pPr>
            <a:r>
              <a:rPr lang="en-US" sz="1400" dirty="0">
                <a:solidFill>
                  <a:srgbClr val="0F2A24"/>
                </a:solidFill>
                <a:latin typeface="Poppins" pitchFamily="34" charset="0"/>
                <a:ea typeface="Poppins" pitchFamily="34" charset="-122"/>
                <a:cs typeface="Poppins" pitchFamily="34" charset="-120"/>
              </a:rPr>
              <a:t>Developing a system alone is not sufficient. It is important to identify whether there is an actual need for such a system and clearly define the problem it intends to solve. At the moment, the problem is still not clearly identified, and there is no clear understanding of the exact solution the project aims to provide</a:t>
            </a:r>
            <a:endParaRPr lang="en-US" sz="1400" dirty="0"/>
          </a:p>
        </p:txBody>
      </p:sp>
      <p:sp>
        <p:nvSpPr>
          <p:cNvPr id="6" name="Shape 4"/>
          <p:cNvSpPr/>
          <p:nvPr/>
        </p:nvSpPr>
        <p:spPr>
          <a:xfrm>
            <a:off x="4737100" y="1215240"/>
            <a:ext cx="7073392" cy="4752341"/>
          </a:xfrm>
          <a:prstGeom prst="roundRect">
            <a:avLst>
              <a:gd name="adj" fmla="val 6878"/>
            </a:avLst>
          </a:prstGeom>
          <a:solidFill>
            <a:srgbClr val="F3F5F1"/>
          </a:solidFill>
          <a:ln/>
        </p:spPr>
        <p:txBody>
          <a:bodyPr/>
          <a:lstStyle/>
          <a:p>
            <a:endParaRPr lang="en-US" dirty="0"/>
          </a:p>
        </p:txBody>
      </p:sp>
      <p:sp>
        <p:nvSpPr>
          <p:cNvPr id="7" name="Text 5"/>
          <p:cNvSpPr/>
          <p:nvPr/>
        </p:nvSpPr>
        <p:spPr>
          <a:xfrm>
            <a:off x="4851400" y="1714500"/>
            <a:ext cx="6488176"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How we addressed it</a:t>
            </a:r>
            <a:endParaRPr lang="en-US" sz="1700" dirty="0"/>
          </a:p>
        </p:txBody>
      </p:sp>
      <p:sp>
        <p:nvSpPr>
          <p:cNvPr id="8" name="Text 6"/>
          <p:cNvSpPr/>
          <p:nvPr/>
        </p:nvSpPr>
        <p:spPr>
          <a:xfrm>
            <a:off x="4916170" y="2075180"/>
            <a:ext cx="6415786" cy="1054100"/>
          </a:xfrm>
          <a:prstGeom prst="rect">
            <a:avLst/>
          </a:prstGeom>
          <a:noFill/>
          <a:ln/>
        </p:spPr>
        <p:txBody>
          <a:bodyPr wrap="square" lIns="0" tIns="0" rIns="0" bIns="0" rtlCol="0" anchor="t">
            <a:normAutofit/>
          </a:bodyPr>
          <a:lstStyle/>
          <a:p>
            <a:pPr marL="189230" indent="-189230" algn="l">
              <a:lnSpc>
                <a:spcPts val="2025"/>
              </a:lnSpc>
              <a:buSzPct val="100000"/>
              <a:buChar char="•"/>
            </a:pPr>
            <a:endParaRPr lang="en-US" sz="1500" dirty="0"/>
          </a:p>
        </p:txBody>
      </p:sp>
      <p:sp>
        <p:nvSpPr>
          <p:cNvPr id="14" name="Text 12"/>
          <p:cNvSpPr/>
          <p:nvPr/>
        </p:nvSpPr>
        <p:spPr>
          <a:xfrm>
            <a:off x="4916170" y="2075180"/>
            <a:ext cx="6415786" cy="3154681"/>
          </a:xfrm>
          <a:prstGeom prst="rect">
            <a:avLst/>
          </a:prstGeom>
          <a:noFill/>
          <a:ln/>
        </p:spPr>
        <p:txBody>
          <a:bodyPr wrap="square" lIns="0" tIns="0" rIns="0" bIns="0" rtlCol="0" anchor="t">
            <a:normAutofit/>
          </a:bodyPr>
          <a:lstStyle/>
          <a:p>
            <a:r>
              <a:rPr lang="en-US" sz="1600" dirty="0">
                <a:solidFill>
                  <a:schemeClr val="bg1"/>
                </a:solidFill>
              </a:rPr>
              <a:t>We addressed this feedback by refining the problem definition at the level of the entire </a:t>
            </a:r>
            <a:r>
              <a:rPr lang="en-US" sz="1600" dirty="0" err="1">
                <a:solidFill>
                  <a:schemeClr val="bg1"/>
                </a:solidFill>
              </a:rPr>
              <a:t>SmartGrama</a:t>
            </a:r>
            <a:r>
              <a:rPr lang="en-US" sz="1600" dirty="0">
                <a:solidFill>
                  <a:schemeClr val="bg1"/>
                </a:solidFill>
              </a:rPr>
              <a:t> research project, rather than focusing only on individual technical components.</a:t>
            </a:r>
          </a:p>
          <a:p>
            <a:r>
              <a:rPr lang="en-US" sz="1600" dirty="0">
                <a:solidFill>
                  <a:schemeClr val="bg1"/>
                </a:solidFill>
              </a:rPr>
              <a:t>The overall problem concerns the challenges citizens may face in accessing welfare-related services, managing identity information, understanding eligibility requirements, and obtaining accurate information about welfare </a:t>
            </a:r>
            <a:r>
              <a:rPr lang="en-US" sz="1600" dirty="0" err="1">
                <a:solidFill>
                  <a:schemeClr val="bg1"/>
                </a:solidFill>
              </a:rPr>
              <a:t>programmes</a:t>
            </a:r>
            <a:r>
              <a:rPr lang="en-US" sz="1600" dirty="0">
                <a:solidFill>
                  <a:schemeClr val="bg1"/>
                </a:solidFill>
              </a:rPr>
              <a:t> and micro-loan services.</a:t>
            </a:r>
          </a:p>
          <a:p>
            <a:r>
              <a:rPr lang="en-US" sz="1600" dirty="0">
                <a:solidFill>
                  <a:schemeClr val="bg1"/>
                </a:solidFill>
              </a:rPr>
              <a:t>To address these challenges, we designed </a:t>
            </a:r>
            <a:r>
              <a:rPr lang="en-US" sz="1600" dirty="0" err="1">
                <a:solidFill>
                  <a:schemeClr val="bg1"/>
                </a:solidFill>
              </a:rPr>
              <a:t>SmartGrama</a:t>
            </a:r>
            <a:r>
              <a:rPr lang="en-US" sz="1600" dirty="0">
                <a:solidFill>
                  <a:schemeClr val="bg1"/>
                </a:solidFill>
              </a:rPr>
              <a:t> as a digital framework consisting of four complementary research components: digital identity and KYC, decentralized identity and wallet management, smart contract-based welfare eligibility assessment, and a multilingual NLP conversational assistant.</a:t>
            </a:r>
          </a:p>
          <a:p>
            <a:endParaRPr lang="en-US" sz="1600" dirty="0">
              <a:solidFill>
                <a:schemeClr val="bg1"/>
              </a:solidFill>
            </a:endParaRPr>
          </a:p>
          <a:p>
            <a:pPr marL="189230" indent="-189230" algn="l">
              <a:lnSpc>
                <a:spcPts val="2025"/>
              </a:lnSpc>
              <a:buSzPct val="100000"/>
              <a:buChar char="•"/>
            </a:pPr>
            <a:endParaRPr lang="en-US" sz="1500" dirty="0">
              <a:solidFill>
                <a:schemeClr val="bg1"/>
              </a:solidFill>
            </a:endParaRPr>
          </a:p>
        </p:txBody>
      </p:sp>
      <p:sp>
        <p:nvSpPr>
          <p:cNvPr id="15" name="Text 13"/>
          <p:cNvSpPr/>
          <p:nvPr/>
        </p:nvSpPr>
        <p:spPr>
          <a:xfrm>
            <a:off x="812800" y="6238241"/>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16" name="Text 14"/>
          <p:cNvSpPr/>
          <p:nvPr/>
        </p:nvSpPr>
        <p:spPr>
          <a:xfrm>
            <a:off x="4787900" y="6238241"/>
            <a:ext cx="26162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FC8B0"/>
                </a:solidFill>
                <a:latin typeface="Poppins" pitchFamily="34" charset="0"/>
                <a:ea typeface="Poppins" pitchFamily="34" charset="-122"/>
                <a:cs typeface="Poppins" pitchFamily="34" charset="-120"/>
              </a:rPr>
              <a:t>R26-IT-017</a:t>
            </a:r>
            <a:endParaRPr lang="en-US" sz="1200" dirty="0"/>
          </a:p>
        </p:txBody>
      </p:sp>
      <p:sp>
        <p:nvSpPr>
          <p:cNvPr id="17" name="Text 15"/>
          <p:cNvSpPr/>
          <p:nvPr/>
        </p:nvSpPr>
        <p:spPr>
          <a:xfrm>
            <a:off x="10566400" y="623824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BBE3F"/>
                </a:solidFill>
                <a:latin typeface="Poppins" pitchFamily="34" charset="0"/>
                <a:ea typeface="Poppins" pitchFamily="34" charset="-122"/>
                <a:cs typeface="Poppins" pitchFamily="34" charset="-120"/>
              </a:rPr>
              <a:t>The Problem and Its Impact</a:t>
            </a:r>
            <a:endParaRPr lang="en-US" sz="3000" dirty="0"/>
          </a:p>
        </p:txBody>
      </p:sp>
      <p:sp>
        <p:nvSpPr>
          <p:cNvPr id="3" name="Text 1"/>
          <p:cNvSpPr/>
          <p:nvPr/>
        </p:nvSpPr>
        <p:spPr>
          <a:xfrm>
            <a:off x="812800" y="1485900"/>
            <a:ext cx="10566400" cy="1234440"/>
          </a:xfrm>
          <a:prstGeom prst="roundRect">
            <a:avLst>
              <a:gd name="adj" fmla="val 10288"/>
            </a:avLst>
          </a:prstGeom>
          <a:solidFill>
            <a:srgbClr val="F3F5F1"/>
          </a:solidFill>
          <a:ln/>
        </p:spPr>
        <p:txBody>
          <a:bodyPr wrap="square" lIns="216803" tIns="216803" rIns="0" bIns="191403" rtlCol="0" anchor="t">
            <a:normAutofit/>
          </a:bodyPr>
          <a:lstStyle/>
          <a:p>
            <a:pPr marL="0" indent="0" algn="l">
              <a:lnSpc>
                <a:spcPts val="2860"/>
              </a:lnSpc>
              <a:buNone/>
            </a:pPr>
            <a:r>
              <a:rPr lang="en-US" sz="2200" b="1" dirty="0">
                <a:solidFill>
                  <a:srgbClr val="0F2A24"/>
                </a:solidFill>
                <a:latin typeface="Poppins" pitchFamily="34" charset="0"/>
                <a:ea typeface="Poppins" pitchFamily="34" charset="-122"/>
                <a:cs typeface="Poppins" pitchFamily="34" charset="-120"/>
              </a:rPr>
              <a:t>Citizens struggle to reach the right welfare and financial services efficiently and transparently.</a:t>
            </a:r>
            <a:endParaRPr lang="en-US" sz="2200" dirty="0"/>
          </a:p>
        </p:txBody>
      </p:sp>
      <p:sp>
        <p:nvSpPr>
          <p:cNvPr id="4" name="Text 2"/>
          <p:cNvSpPr/>
          <p:nvPr/>
        </p:nvSpPr>
        <p:spPr>
          <a:xfrm>
            <a:off x="812800" y="297434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9FC8B0"/>
                </a:solidFill>
                <a:latin typeface="Poppins" pitchFamily="34" charset="0"/>
                <a:ea typeface="Poppins" pitchFamily="34" charset="-122"/>
                <a:cs typeface="Poppins" pitchFamily="34" charset="-120"/>
              </a:rPr>
              <a:t>The impact shows up in four ways</a:t>
            </a:r>
            <a:endParaRPr lang="en-US" sz="1500" dirty="0"/>
          </a:p>
        </p:txBody>
      </p:sp>
      <p:sp>
        <p:nvSpPr>
          <p:cNvPr id="5" name="Shape 3"/>
          <p:cNvSpPr/>
          <p:nvPr/>
        </p:nvSpPr>
        <p:spPr>
          <a:xfrm>
            <a:off x="812800" y="3495041"/>
            <a:ext cx="2489200" cy="1659890"/>
          </a:xfrm>
          <a:prstGeom prst="roundRect">
            <a:avLst>
              <a:gd name="adj" fmla="val 7651"/>
            </a:avLst>
          </a:prstGeom>
          <a:solidFill>
            <a:srgbClr val="0B4A3C"/>
          </a:solidFill>
          <a:ln/>
        </p:spPr>
      </p:sp>
      <p:sp>
        <p:nvSpPr>
          <p:cNvPr id="6" name="Text 4"/>
          <p:cNvSpPr/>
          <p:nvPr/>
        </p:nvSpPr>
        <p:spPr>
          <a:xfrm>
            <a:off x="1016000" y="3698241"/>
            <a:ext cx="214528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BE3F"/>
                </a:solidFill>
                <a:latin typeface="Poppins" pitchFamily="34" charset="0"/>
                <a:ea typeface="Poppins" pitchFamily="34" charset="-122"/>
                <a:cs typeface="Poppins" pitchFamily="34" charset="-120"/>
              </a:rPr>
              <a:t>Processing time</a:t>
            </a:r>
            <a:endParaRPr lang="en-US" sz="1500" dirty="0"/>
          </a:p>
        </p:txBody>
      </p:sp>
      <p:sp>
        <p:nvSpPr>
          <p:cNvPr id="7" name="Text 5"/>
          <p:cNvSpPr/>
          <p:nvPr/>
        </p:nvSpPr>
        <p:spPr>
          <a:xfrm>
            <a:off x="1016000" y="4003041"/>
            <a:ext cx="2145284"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E3F5E1"/>
                </a:solidFill>
                <a:latin typeface="Poppins" pitchFamily="34" charset="0"/>
                <a:ea typeface="Poppins" pitchFamily="34" charset="-122"/>
                <a:cs typeface="Poppins" pitchFamily="34" charset="-120"/>
              </a:rPr>
              <a:t>Slow verification and eligibility assessment</a:t>
            </a:r>
            <a:endParaRPr lang="en-US" sz="1400" dirty="0"/>
          </a:p>
        </p:txBody>
      </p:sp>
      <p:sp>
        <p:nvSpPr>
          <p:cNvPr id="8" name="Shape 6"/>
          <p:cNvSpPr/>
          <p:nvPr/>
        </p:nvSpPr>
        <p:spPr>
          <a:xfrm>
            <a:off x="3505200" y="3495041"/>
            <a:ext cx="2489200" cy="1659890"/>
          </a:xfrm>
          <a:prstGeom prst="roundRect">
            <a:avLst>
              <a:gd name="adj" fmla="val 7651"/>
            </a:avLst>
          </a:prstGeom>
          <a:solidFill>
            <a:srgbClr val="0B4A3C"/>
          </a:solidFill>
          <a:ln/>
        </p:spPr>
      </p:sp>
      <p:sp>
        <p:nvSpPr>
          <p:cNvPr id="9" name="Text 7"/>
          <p:cNvSpPr/>
          <p:nvPr/>
        </p:nvSpPr>
        <p:spPr>
          <a:xfrm>
            <a:off x="3708400" y="3698241"/>
            <a:ext cx="2145284"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BE3F"/>
                </a:solidFill>
                <a:latin typeface="Poppins" pitchFamily="34" charset="0"/>
                <a:ea typeface="Poppins" pitchFamily="34" charset="-122"/>
                <a:cs typeface="Poppins" pitchFamily="34" charset="-120"/>
              </a:rPr>
              <a:t>Repeated verification</a:t>
            </a:r>
            <a:endParaRPr lang="en-US" sz="1500" dirty="0"/>
          </a:p>
        </p:txBody>
      </p:sp>
      <p:sp>
        <p:nvSpPr>
          <p:cNvPr id="10" name="Text 8"/>
          <p:cNvSpPr/>
          <p:nvPr/>
        </p:nvSpPr>
        <p:spPr>
          <a:xfrm>
            <a:off x="3708400" y="4231641"/>
            <a:ext cx="2145284"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E3F5E1"/>
                </a:solidFill>
                <a:latin typeface="Poppins" pitchFamily="34" charset="0"/>
                <a:ea typeface="Poppins" pitchFamily="34" charset="-122"/>
                <a:cs typeface="Poppins" pitchFamily="34" charset="-120"/>
              </a:rPr>
              <a:t>Citizen information submitted again and again</a:t>
            </a:r>
            <a:endParaRPr lang="en-US" sz="1400" dirty="0"/>
          </a:p>
        </p:txBody>
      </p:sp>
      <p:sp>
        <p:nvSpPr>
          <p:cNvPr id="11" name="Shape 9"/>
          <p:cNvSpPr/>
          <p:nvPr/>
        </p:nvSpPr>
        <p:spPr>
          <a:xfrm>
            <a:off x="6197600" y="3495041"/>
            <a:ext cx="2489200" cy="1659890"/>
          </a:xfrm>
          <a:prstGeom prst="roundRect">
            <a:avLst>
              <a:gd name="adj" fmla="val 7651"/>
            </a:avLst>
          </a:prstGeom>
          <a:solidFill>
            <a:srgbClr val="0B4A3C"/>
          </a:solidFill>
          <a:ln/>
        </p:spPr>
      </p:sp>
      <p:sp>
        <p:nvSpPr>
          <p:cNvPr id="12" name="Text 10"/>
          <p:cNvSpPr/>
          <p:nvPr/>
        </p:nvSpPr>
        <p:spPr>
          <a:xfrm>
            <a:off x="6400800" y="3698241"/>
            <a:ext cx="214528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BE3F"/>
                </a:solidFill>
                <a:latin typeface="Poppins" pitchFamily="34" charset="0"/>
                <a:ea typeface="Poppins" pitchFamily="34" charset="-122"/>
                <a:cs typeface="Poppins" pitchFamily="34" charset="-120"/>
              </a:rPr>
              <a:t>Manual assessment</a:t>
            </a:r>
            <a:endParaRPr lang="en-US" sz="1500" dirty="0"/>
          </a:p>
        </p:txBody>
      </p:sp>
      <p:sp>
        <p:nvSpPr>
          <p:cNvPr id="13" name="Text 11"/>
          <p:cNvSpPr/>
          <p:nvPr/>
        </p:nvSpPr>
        <p:spPr>
          <a:xfrm>
            <a:off x="6400800" y="4003041"/>
            <a:ext cx="2145284"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E3F5E1"/>
                </a:solidFill>
                <a:latin typeface="Poppins" pitchFamily="34" charset="0"/>
                <a:ea typeface="Poppins" pitchFamily="34" charset="-122"/>
                <a:cs typeface="Poppins" pitchFamily="34" charset="-120"/>
              </a:rPr>
              <a:t>Decisions depend on manual judgement</a:t>
            </a:r>
            <a:endParaRPr lang="en-US" sz="1400" dirty="0"/>
          </a:p>
        </p:txBody>
      </p:sp>
      <p:sp>
        <p:nvSpPr>
          <p:cNvPr id="14" name="Shape 12"/>
          <p:cNvSpPr/>
          <p:nvPr/>
        </p:nvSpPr>
        <p:spPr>
          <a:xfrm>
            <a:off x="8890000" y="3495041"/>
            <a:ext cx="2489200" cy="1659890"/>
          </a:xfrm>
          <a:prstGeom prst="roundRect">
            <a:avLst>
              <a:gd name="adj" fmla="val 7651"/>
            </a:avLst>
          </a:prstGeom>
          <a:solidFill>
            <a:srgbClr val="0B4A3C"/>
          </a:solidFill>
          <a:ln/>
        </p:spPr>
      </p:sp>
      <p:sp>
        <p:nvSpPr>
          <p:cNvPr id="15" name="Text 13"/>
          <p:cNvSpPr/>
          <p:nvPr/>
        </p:nvSpPr>
        <p:spPr>
          <a:xfrm>
            <a:off x="9093200" y="3698241"/>
            <a:ext cx="214528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BE3F"/>
                </a:solidFill>
                <a:latin typeface="Poppins" pitchFamily="34" charset="0"/>
                <a:ea typeface="Poppins" pitchFamily="34" charset="-122"/>
                <a:cs typeface="Poppins" pitchFamily="34" charset="-120"/>
              </a:rPr>
              <a:t>User understanding</a:t>
            </a:r>
            <a:endParaRPr lang="en-US" sz="1500" dirty="0"/>
          </a:p>
        </p:txBody>
      </p:sp>
      <p:sp>
        <p:nvSpPr>
          <p:cNvPr id="16" name="Text 14"/>
          <p:cNvSpPr/>
          <p:nvPr/>
        </p:nvSpPr>
        <p:spPr>
          <a:xfrm>
            <a:off x="9093200" y="4003041"/>
            <a:ext cx="2145284"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E3F5E1"/>
                </a:solidFill>
                <a:latin typeface="Poppins" pitchFamily="34" charset="0"/>
                <a:ea typeface="Poppins" pitchFamily="34" charset="-122"/>
                <a:cs typeface="Poppins" pitchFamily="34" charset="-120"/>
              </a:rPr>
              <a:t>Services and requirements are hard to follow</a:t>
            </a:r>
            <a:endParaRPr lang="en-US" sz="1400" dirty="0"/>
          </a:p>
        </p:txBody>
      </p:sp>
      <p:sp>
        <p:nvSpPr>
          <p:cNvPr id="17" name="Text 15"/>
          <p:cNvSpPr/>
          <p:nvPr/>
        </p:nvSpPr>
        <p:spPr>
          <a:xfrm>
            <a:off x="812800" y="6238239"/>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18" name="Text 16"/>
          <p:cNvSpPr/>
          <p:nvPr/>
        </p:nvSpPr>
        <p:spPr>
          <a:xfrm>
            <a:off x="4787900" y="6238239"/>
            <a:ext cx="26162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FC8B0"/>
                </a:solidFill>
                <a:latin typeface="Poppins" pitchFamily="34" charset="0"/>
                <a:ea typeface="Poppins" pitchFamily="34" charset="-122"/>
                <a:cs typeface="Poppins" pitchFamily="34" charset="-120"/>
              </a:rPr>
              <a:t>R26-IT-017</a:t>
            </a:r>
            <a:endParaRPr lang="en-US" sz="1200" dirty="0"/>
          </a:p>
        </p:txBody>
      </p:sp>
      <p:sp>
        <p:nvSpPr>
          <p:cNvPr id="19" name="Text 17"/>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BBE3F"/>
                </a:solidFill>
                <a:latin typeface="Poppins" pitchFamily="34" charset="0"/>
                <a:ea typeface="Poppins" pitchFamily="34" charset="-122"/>
                <a:cs typeface="Poppins" pitchFamily="34" charset="-120"/>
              </a:rPr>
              <a:t>Who Benefits from the Solution</a:t>
            </a:r>
            <a:endParaRPr lang="en-US" sz="3000" dirty="0"/>
          </a:p>
        </p:txBody>
      </p:sp>
      <p:sp>
        <p:nvSpPr>
          <p:cNvPr id="3" name="Shape 1"/>
          <p:cNvSpPr/>
          <p:nvPr/>
        </p:nvSpPr>
        <p:spPr>
          <a:xfrm>
            <a:off x="812800" y="1485900"/>
            <a:ext cx="5181600" cy="1589405"/>
          </a:xfrm>
          <a:prstGeom prst="roundRect">
            <a:avLst>
              <a:gd name="adj" fmla="val 7990"/>
            </a:avLst>
          </a:prstGeom>
          <a:solidFill>
            <a:srgbClr val="F3F5F1"/>
          </a:solidFill>
          <a:ln/>
        </p:spPr>
      </p:sp>
      <p:sp>
        <p:nvSpPr>
          <p:cNvPr id="4" name="Text 2"/>
          <p:cNvSpPr/>
          <p:nvPr/>
        </p:nvSpPr>
        <p:spPr>
          <a:xfrm>
            <a:off x="1041400" y="1714500"/>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Citizens</a:t>
            </a:r>
            <a:endParaRPr lang="en-US" sz="1700" dirty="0"/>
          </a:p>
        </p:txBody>
      </p:sp>
      <p:sp>
        <p:nvSpPr>
          <p:cNvPr id="5" name="Text 3"/>
          <p:cNvSpPr/>
          <p:nvPr/>
        </p:nvSpPr>
        <p:spPr>
          <a:xfrm>
            <a:off x="1106170" y="2075182"/>
            <a:ext cx="4793742" cy="796925"/>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Faster, fairer access to welfare and micro-loans</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Help in their own language</a:t>
            </a:r>
            <a:endParaRPr lang="en-US" sz="1500" dirty="0"/>
          </a:p>
        </p:txBody>
      </p:sp>
      <p:sp>
        <p:nvSpPr>
          <p:cNvPr id="6" name="Shape 4"/>
          <p:cNvSpPr/>
          <p:nvPr/>
        </p:nvSpPr>
        <p:spPr>
          <a:xfrm>
            <a:off x="6197600" y="1485900"/>
            <a:ext cx="5181600" cy="1589405"/>
          </a:xfrm>
          <a:prstGeom prst="roundRect">
            <a:avLst>
              <a:gd name="adj" fmla="val 7990"/>
            </a:avLst>
          </a:prstGeom>
          <a:solidFill>
            <a:srgbClr val="F3F5F1"/>
          </a:solidFill>
          <a:ln/>
        </p:spPr>
      </p:sp>
      <p:sp>
        <p:nvSpPr>
          <p:cNvPr id="7" name="Text 5"/>
          <p:cNvSpPr/>
          <p:nvPr/>
        </p:nvSpPr>
        <p:spPr>
          <a:xfrm>
            <a:off x="6426200" y="1714500"/>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Government officers</a:t>
            </a:r>
            <a:endParaRPr lang="en-US" sz="1700" dirty="0"/>
          </a:p>
        </p:txBody>
      </p:sp>
      <p:sp>
        <p:nvSpPr>
          <p:cNvPr id="8" name="Text 6"/>
          <p:cNvSpPr/>
          <p:nvPr/>
        </p:nvSpPr>
        <p:spPr>
          <a:xfrm>
            <a:off x="6490970" y="2075182"/>
            <a:ext cx="4793742" cy="539750"/>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Less manual checking</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Clear, auditable decisions</a:t>
            </a:r>
            <a:endParaRPr lang="en-US" sz="1500" dirty="0"/>
          </a:p>
        </p:txBody>
      </p:sp>
      <p:sp>
        <p:nvSpPr>
          <p:cNvPr id="9" name="Shape 7"/>
          <p:cNvSpPr/>
          <p:nvPr/>
        </p:nvSpPr>
        <p:spPr>
          <a:xfrm>
            <a:off x="812800" y="3329307"/>
            <a:ext cx="5181600" cy="1332230"/>
          </a:xfrm>
          <a:prstGeom prst="roundRect">
            <a:avLst>
              <a:gd name="adj" fmla="val 9533"/>
            </a:avLst>
          </a:prstGeom>
          <a:solidFill>
            <a:srgbClr val="F3F5F1"/>
          </a:solidFill>
          <a:ln/>
        </p:spPr>
      </p:sp>
      <p:sp>
        <p:nvSpPr>
          <p:cNvPr id="10" name="Text 8"/>
          <p:cNvSpPr/>
          <p:nvPr/>
        </p:nvSpPr>
        <p:spPr>
          <a:xfrm>
            <a:off x="1041400" y="3557907"/>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Financial institutions</a:t>
            </a:r>
            <a:endParaRPr lang="en-US" sz="1700" dirty="0"/>
          </a:p>
        </p:txBody>
      </p:sp>
      <p:sp>
        <p:nvSpPr>
          <p:cNvPr id="11" name="Text 9"/>
          <p:cNvSpPr/>
          <p:nvPr/>
        </p:nvSpPr>
        <p:spPr>
          <a:xfrm>
            <a:off x="1106170" y="3918586"/>
            <a:ext cx="4793742" cy="539750"/>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Trusted, verified borrower records</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Better repayment risk insight</a:t>
            </a:r>
            <a:endParaRPr lang="en-US" sz="1500" dirty="0"/>
          </a:p>
        </p:txBody>
      </p:sp>
      <p:sp>
        <p:nvSpPr>
          <p:cNvPr id="12" name="Shape 10"/>
          <p:cNvSpPr/>
          <p:nvPr/>
        </p:nvSpPr>
        <p:spPr>
          <a:xfrm>
            <a:off x="6197600" y="3329307"/>
            <a:ext cx="5181600" cy="1332230"/>
          </a:xfrm>
          <a:prstGeom prst="roundRect">
            <a:avLst>
              <a:gd name="adj" fmla="val 9533"/>
            </a:avLst>
          </a:prstGeom>
          <a:solidFill>
            <a:srgbClr val="F3F5F1"/>
          </a:solidFill>
          <a:ln/>
        </p:spPr>
      </p:sp>
      <p:sp>
        <p:nvSpPr>
          <p:cNvPr id="13" name="Text 11"/>
          <p:cNvSpPr/>
          <p:nvPr/>
        </p:nvSpPr>
        <p:spPr>
          <a:xfrm>
            <a:off x="6426200" y="3557907"/>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Communities and organisations</a:t>
            </a:r>
            <a:endParaRPr lang="en-US" sz="1700" dirty="0"/>
          </a:p>
        </p:txBody>
      </p:sp>
      <p:sp>
        <p:nvSpPr>
          <p:cNvPr id="14" name="Text 12"/>
          <p:cNvSpPr/>
          <p:nvPr/>
        </p:nvSpPr>
        <p:spPr>
          <a:xfrm>
            <a:off x="6490970" y="3918586"/>
            <a:ext cx="4793742" cy="539750"/>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Transparent welfare distribution</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Fewer fraudulent claims</a:t>
            </a:r>
            <a:endParaRPr lang="en-US" sz="1500" dirty="0"/>
          </a:p>
        </p:txBody>
      </p:sp>
      <p:sp>
        <p:nvSpPr>
          <p:cNvPr id="15" name="Text 13"/>
          <p:cNvSpPr/>
          <p:nvPr/>
        </p:nvSpPr>
        <p:spPr>
          <a:xfrm>
            <a:off x="812800" y="6238239"/>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16" name="Text 14"/>
          <p:cNvSpPr/>
          <p:nvPr/>
        </p:nvSpPr>
        <p:spPr>
          <a:xfrm>
            <a:off x="4787900" y="6238239"/>
            <a:ext cx="26162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FC8B0"/>
                </a:solidFill>
                <a:latin typeface="Poppins" pitchFamily="34" charset="0"/>
                <a:ea typeface="Poppins" pitchFamily="34" charset="-122"/>
                <a:cs typeface="Poppins" pitchFamily="34" charset="-120"/>
              </a:rPr>
              <a:t>R26-IT-017</a:t>
            </a:r>
            <a:endParaRPr lang="en-US" sz="1200" dirty="0"/>
          </a:p>
        </p:txBody>
      </p:sp>
      <p:sp>
        <p:nvSpPr>
          <p:cNvPr id="17" name="Text 15"/>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BBE3F"/>
                </a:solidFill>
                <a:latin typeface="Poppins" pitchFamily="34" charset="0"/>
                <a:ea typeface="Poppins" pitchFamily="34" charset="-122"/>
                <a:cs typeface="Poppins" pitchFamily="34" charset="-120"/>
              </a:rPr>
              <a:t>Our Proposed Solution</a:t>
            </a:r>
            <a:endParaRPr lang="en-US" sz="3000" dirty="0"/>
          </a:p>
        </p:txBody>
      </p:sp>
      <p:sp>
        <p:nvSpPr>
          <p:cNvPr id="3" name="Text 1"/>
          <p:cNvSpPr/>
          <p:nvPr/>
        </p:nvSpPr>
        <p:spPr>
          <a:xfrm>
            <a:off x="812800" y="1485900"/>
            <a:ext cx="10883392" cy="652780"/>
          </a:xfrm>
          <a:prstGeom prst="rect">
            <a:avLst/>
          </a:prstGeom>
          <a:noFill/>
          <a:ln/>
        </p:spPr>
        <p:txBody>
          <a:bodyPr wrap="square" lIns="0" tIns="0" rIns="0" bIns="0" rtlCol="0" anchor="t">
            <a:normAutofit/>
          </a:bodyPr>
          <a:lstStyle/>
          <a:p>
            <a:pPr marL="0" indent="0" algn="l">
              <a:lnSpc>
                <a:spcPts val="2470"/>
              </a:lnSpc>
              <a:buNone/>
            </a:pPr>
            <a:r>
              <a:rPr lang="en-US" sz="1900" b="1" dirty="0">
                <a:solidFill>
                  <a:srgbClr val="E3F5E1"/>
                </a:solidFill>
                <a:latin typeface="Poppins" pitchFamily="34" charset="0"/>
                <a:ea typeface="Poppins" pitchFamily="34" charset="-122"/>
                <a:cs typeface="Poppins" pitchFamily="34" charset="-120"/>
              </a:rPr>
              <a:t>One integrated AI and blockchain platform for accessible, secure and transparent welfare and micro-loan services.</a:t>
            </a:r>
            <a:endParaRPr lang="en-US" sz="1900" dirty="0"/>
          </a:p>
        </p:txBody>
      </p:sp>
      <p:sp>
        <p:nvSpPr>
          <p:cNvPr id="4" name="Shape 2"/>
          <p:cNvSpPr/>
          <p:nvPr/>
        </p:nvSpPr>
        <p:spPr>
          <a:xfrm>
            <a:off x="812800" y="2367282"/>
            <a:ext cx="1991360" cy="1899920"/>
          </a:xfrm>
          <a:prstGeom prst="roundRect">
            <a:avLst>
              <a:gd name="adj" fmla="val 6684"/>
            </a:avLst>
          </a:prstGeom>
          <a:solidFill>
            <a:srgbClr val="F3F5F1"/>
          </a:solidFill>
          <a:ln/>
        </p:spPr>
      </p:sp>
      <p:sp>
        <p:nvSpPr>
          <p:cNvPr id="5" name="Text 3"/>
          <p:cNvSpPr/>
          <p:nvPr/>
        </p:nvSpPr>
        <p:spPr>
          <a:xfrm>
            <a:off x="1016000" y="2570482"/>
            <a:ext cx="163576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A7A1F"/>
                </a:solidFill>
                <a:latin typeface="Poppins" pitchFamily="34" charset="0"/>
                <a:ea typeface="Poppins" pitchFamily="34" charset="-122"/>
                <a:cs typeface="Poppins" pitchFamily="34" charset="-120"/>
              </a:rPr>
              <a:t>DID + AI-assisted KYC</a:t>
            </a:r>
            <a:endParaRPr lang="en-US" sz="1500" dirty="0"/>
          </a:p>
        </p:txBody>
      </p:sp>
      <p:sp>
        <p:nvSpPr>
          <p:cNvPr id="6" name="Text 4"/>
          <p:cNvSpPr/>
          <p:nvPr/>
        </p:nvSpPr>
        <p:spPr>
          <a:xfrm>
            <a:off x="1016000" y="3103882"/>
            <a:ext cx="1635760"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F2A24"/>
                </a:solidFill>
                <a:latin typeface="Poppins" pitchFamily="34" charset="0"/>
                <a:ea typeface="Poppins" pitchFamily="34" charset="-122"/>
                <a:cs typeface="Poppins" pitchFamily="34" charset="-120"/>
              </a:rPr>
              <a:t>Secure identity verification</a:t>
            </a:r>
            <a:endParaRPr lang="en-US" sz="1400" dirty="0"/>
          </a:p>
        </p:txBody>
      </p:sp>
      <p:sp>
        <p:nvSpPr>
          <p:cNvPr id="7" name="Shape 5"/>
          <p:cNvSpPr/>
          <p:nvPr/>
        </p:nvSpPr>
        <p:spPr>
          <a:xfrm>
            <a:off x="2956560" y="2367282"/>
            <a:ext cx="1991360" cy="1899920"/>
          </a:xfrm>
          <a:prstGeom prst="roundRect">
            <a:avLst>
              <a:gd name="adj" fmla="val 6684"/>
            </a:avLst>
          </a:prstGeom>
          <a:solidFill>
            <a:srgbClr val="F3F5F1"/>
          </a:solidFill>
          <a:ln/>
        </p:spPr>
      </p:sp>
      <p:sp>
        <p:nvSpPr>
          <p:cNvPr id="8" name="Text 6"/>
          <p:cNvSpPr/>
          <p:nvPr/>
        </p:nvSpPr>
        <p:spPr>
          <a:xfrm>
            <a:off x="3159760" y="2570482"/>
            <a:ext cx="163576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A7A1F"/>
                </a:solidFill>
                <a:latin typeface="Poppins" pitchFamily="34" charset="0"/>
                <a:ea typeface="Poppins" pitchFamily="34" charset="-122"/>
                <a:cs typeface="Poppins" pitchFamily="34" charset="-120"/>
              </a:rPr>
              <a:t>Smart contract eligibility</a:t>
            </a:r>
            <a:endParaRPr lang="en-US" sz="1500" dirty="0"/>
          </a:p>
        </p:txBody>
      </p:sp>
      <p:sp>
        <p:nvSpPr>
          <p:cNvPr id="9" name="Text 7"/>
          <p:cNvSpPr/>
          <p:nvPr/>
        </p:nvSpPr>
        <p:spPr>
          <a:xfrm>
            <a:off x="3159760" y="3103882"/>
            <a:ext cx="1635760" cy="9855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F2A24"/>
                </a:solidFill>
                <a:latin typeface="Poppins" pitchFamily="34" charset="0"/>
                <a:ea typeface="Poppins" pitchFamily="34" charset="-122"/>
                <a:cs typeface="Poppins" pitchFamily="34" charset="-120"/>
              </a:rPr>
              <a:t>Automated welfare and micro-loan eligibility</a:t>
            </a:r>
            <a:endParaRPr lang="en-US" sz="1400" dirty="0"/>
          </a:p>
        </p:txBody>
      </p:sp>
      <p:sp>
        <p:nvSpPr>
          <p:cNvPr id="10" name="Shape 8"/>
          <p:cNvSpPr/>
          <p:nvPr/>
        </p:nvSpPr>
        <p:spPr>
          <a:xfrm>
            <a:off x="5100320" y="2367282"/>
            <a:ext cx="1991360" cy="1899920"/>
          </a:xfrm>
          <a:prstGeom prst="roundRect">
            <a:avLst>
              <a:gd name="adj" fmla="val 6684"/>
            </a:avLst>
          </a:prstGeom>
          <a:solidFill>
            <a:srgbClr val="F3F5F1"/>
          </a:solidFill>
          <a:ln/>
        </p:spPr>
      </p:sp>
      <p:sp>
        <p:nvSpPr>
          <p:cNvPr id="11" name="Text 9"/>
          <p:cNvSpPr/>
          <p:nvPr/>
        </p:nvSpPr>
        <p:spPr>
          <a:xfrm>
            <a:off x="5303520" y="2570482"/>
            <a:ext cx="1635760" cy="7112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A7A1F"/>
                </a:solidFill>
                <a:latin typeface="Poppins" pitchFamily="34" charset="0"/>
                <a:ea typeface="Poppins" pitchFamily="34" charset="-122"/>
                <a:cs typeface="Poppins" pitchFamily="34" charset="-120"/>
              </a:rPr>
              <a:t>AI loan and repayment prediction</a:t>
            </a:r>
            <a:endParaRPr lang="en-US" sz="1500" dirty="0"/>
          </a:p>
        </p:txBody>
      </p:sp>
      <p:sp>
        <p:nvSpPr>
          <p:cNvPr id="12" name="Text 10"/>
          <p:cNvSpPr/>
          <p:nvPr/>
        </p:nvSpPr>
        <p:spPr>
          <a:xfrm>
            <a:off x="5303520" y="3332482"/>
            <a:ext cx="1635760"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F2A24"/>
                </a:solidFill>
                <a:latin typeface="Poppins" pitchFamily="34" charset="0"/>
                <a:ea typeface="Poppins" pitchFamily="34" charset="-122"/>
                <a:cs typeface="Poppins" pitchFamily="34" charset="-120"/>
              </a:rPr>
              <a:t>Risk level and decision support</a:t>
            </a:r>
            <a:endParaRPr lang="en-US" sz="1400" dirty="0"/>
          </a:p>
        </p:txBody>
      </p:sp>
      <p:sp>
        <p:nvSpPr>
          <p:cNvPr id="13" name="Shape 11"/>
          <p:cNvSpPr/>
          <p:nvPr/>
        </p:nvSpPr>
        <p:spPr>
          <a:xfrm>
            <a:off x="7244080" y="2367282"/>
            <a:ext cx="1991360" cy="1899920"/>
          </a:xfrm>
          <a:prstGeom prst="roundRect">
            <a:avLst>
              <a:gd name="adj" fmla="val 6684"/>
            </a:avLst>
          </a:prstGeom>
          <a:solidFill>
            <a:srgbClr val="F3F5F1"/>
          </a:solidFill>
          <a:ln/>
        </p:spPr>
      </p:sp>
      <p:sp>
        <p:nvSpPr>
          <p:cNvPr id="14" name="Text 12"/>
          <p:cNvSpPr/>
          <p:nvPr/>
        </p:nvSpPr>
        <p:spPr>
          <a:xfrm>
            <a:off x="7447280" y="2570482"/>
            <a:ext cx="163576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A7A1F"/>
                </a:solidFill>
                <a:latin typeface="Poppins" pitchFamily="34" charset="0"/>
                <a:ea typeface="Poppins" pitchFamily="34" charset="-122"/>
                <a:cs typeface="Poppins" pitchFamily="34" charset="-120"/>
              </a:rPr>
              <a:t>Multilingual NLP / RAG assistant</a:t>
            </a:r>
            <a:endParaRPr lang="en-US" sz="1500" dirty="0"/>
          </a:p>
        </p:txBody>
      </p:sp>
      <p:sp>
        <p:nvSpPr>
          <p:cNvPr id="15" name="Text 13"/>
          <p:cNvSpPr/>
          <p:nvPr/>
        </p:nvSpPr>
        <p:spPr>
          <a:xfrm>
            <a:off x="7447280" y="3103882"/>
            <a:ext cx="1635760"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F2A24"/>
                </a:solidFill>
                <a:latin typeface="Poppins" pitchFamily="34" charset="0"/>
                <a:ea typeface="Poppins" pitchFamily="34" charset="-122"/>
                <a:cs typeface="Poppins" pitchFamily="34" charset="-120"/>
              </a:rPr>
              <a:t>Sinhala and English help by voice or text</a:t>
            </a:r>
            <a:endParaRPr lang="en-US" sz="1400" dirty="0"/>
          </a:p>
        </p:txBody>
      </p:sp>
      <p:sp>
        <p:nvSpPr>
          <p:cNvPr id="16" name="Shape 14"/>
          <p:cNvSpPr/>
          <p:nvPr/>
        </p:nvSpPr>
        <p:spPr>
          <a:xfrm>
            <a:off x="9387840" y="2367282"/>
            <a:ext cx="1991360" cy="1899920"/>
          </a:xfrm>
          <a:prstGeom prst="roundRect">
            <a:avLst>
              <a:gd name="adj" fmla="val 6684"/>
            </a:avLst>
          </a:prstGeom>
          <a:solidFill>
            <a:srgbClr val="F3F5F1"/>
          </a:solidFill>
          <a:ln/>
        </p:spPr>
      </p:sp>
      <p:sp>
        <p:nvSpPr>
          <p:cNvPr id="17" name="Text 15"/>
          <p:cNvSpPr/>
          <p:nvPr/>
        </p:nvSpPr>
        <p:spPr>
          <a:xfrm>
            <a:off x="9591040" y="2570482"/>
            <a:ext cx="163576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A7A1F"/>
                </a:solidFill>
                <a:latin typeface="Poppins" pitchFamily="34" charset="0"/>
                <a:ea typeface="Poppins" pitchFamily="34" charset="-122"/>
                <a:cs typeface="Poppins" pitchFamily="34" charset="-120"/>
              </a:rPr>
              <a:t>Blockchain data layer</a:t>
            </a:r>
            <a:endParaRPr lang="en-US" sz="1500" dirty="0"/>
          </a:p>
        </p:txBody>
      </p:sp>
      <p:sp>
        <p:nvSpPr>
          <p:cNvPr id="18" name="Text 16"/>
          <p:cNvSpPr/>
          <p:nvPr/>
        </p:nvSpPr>
        <p:spPr>
          <a:xfrm>
            <a:off x="9591040" y="3103882"/>
            <a:ext cx="1635760" cy="9855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F2A24"/>
                </a:solidFill>
                <a:latin typeface="Poppins" pitchFamily="34" charset="0"/>
                <a:ea typeface="Poppins" pitchFamily="34" charset="-122"/>
                <a:cs typeface="Poppins" pitchFamily="34" charset="-120"/>
              </a:rPr>
              <a:t>Tamper-evident records and inter-bank verification</a:t>
            </a:r>
            <a:endParaRPr lang="en-US" sz="1400" dirty="0"/>
          </a:p>
        </p:txBody>
      </p:sp>
      <p:sp>
        <p:nvSpPr>
          <p:cNvPr id="19" name="Text 17"/>
          <p:cNvSpPr/>
          <p:nvPr/>
        </p:nvSpPr>
        <p:spPr>
          <a:xfrm>
            <a:off x="812800" y="6238239"/>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20" name="Text 18"/>
          <p:cNvSpPr/>
          <p:nvPr/>
        </p:nvSpPr>
        <p:spPr>
          <a:xfrm>
            <a:off x="4787900" y="6238239"/>
            <a:ext cx="26162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FC8B0"/>
                </a:solidFill>
                <a:latin typeface="Poppins" pitchFamily="34" charset="0"/>
                <a:ea typeface="Poppins" pitchFamily="34" charset="-122"/>
                <a:cs typeface="Poppins" pitchFamily="34" charset="-120"/>
              </a:rPr>
              <a:t>R26-IT-017</a:t>
            </a:r>
            <a:endParaRPr lang="en-US" sz="1200" dirty="0"/>
          </a:p>
        </p:txBody>
      </p:sp>
      <p:sp>
        <p:nvSpPr>
          <p:cNvPr id="21" name="Text 19"/>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61F"/>
        </a:solidFill>
        <a:effectLst/>
      </p:bgPr>
    </p:bg>
    <p:spTree>
      <p:nvGrpSpPr>
        <p:cNvPr id="1" name=""/>
        <p:cNvGrpSpPr/>
        <p:nvPr/>
      </p:nvGrpSpPr>
      <p:grpSpPr>
        <a:xfrm>
          <a:off x="0" y="0"/>
          <a:ext cx="0" cy="0"/>
          <a:chOff x="0" y="0"/>
          <a:chExt cx="0" cy="0"/>
        </a:xfrm>
      </p:grpSpPr>
      <p:sp>
        <p:nvSpPr>
          <p:cNvPr id="2" name="Text 0"/>
          <p:cNvSpPr/>
          <p:nvPr/>
        </p:nvSpPr>
        <p:spPr>
          <a:xfrm>
            <a:off x="812800" y="2225039"/>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9FC8B0"/>
                </a:solidFill>
                <a:latin typeface="Poppins" pitchFamily="34" charset="0"/>
                <a:ea typeface="Poppins" pitchFamily="34" charset="-122"/>
                <a:cs typeface="Poppins" pitchFamily="34" charset="-120"/>
              </a:rPr>
              <a:t>Individual component</a:t>
            </a:r>
            <a:endParaRPr lang="en-US" sz="1500" dirty="0"/>
          </a:p>
        </p:txBody>
      </p:sp>
      <p:sp>
        <p:nvSpPr>
          <p:cNvPr id="3" name="Text 1"/>
          <p:cNvSpPr>
            <a:spLocks noGrp="1"/>
          </p:cNvSpPr>
          <p:nvPr>
            <p:ph type="title"/>
          </p:nvPr>
        </p:nvSpPr>
        <p:spPr>
          <a:xfrm>
            <a:off x="812800" y="2669539"/>
            <a:ext cx="6540500" cy="1003300"/>
          </a:xfrm>
          <a:prstGeom prst="rect">
            <a:avLst/>
          </a:prstGeom>
          <a:noFill/>
          <a:ln/>
        </p:spPr>
        <p:txBody>
          <a:bodyPr wrap="square" lIns="0" tIns="0" rIns="0" bIns="0" rtlCol="0" anchor="t">
            <a:normAutofit/>
          </a:bodyPr>
          <a:lstStyle/>
          <a:p>
            <a:pPr marL="0" indent="0" algn="l">
              <a:lnSpc>
                <a:spcPts val="3850"/>
              </a:lnSpc>
              <a:buNone/>
            </a:pPr>
            <a:r>
              <a:rPr lang="en-US" sz="3500" b="1" i="0" dirty="0">
                <a:solidFill>
                  <a:srgbClr val="2BBE3F"/>
                </a:solidFill>
                <a:latin typeface="Poppins" pitchFamily="34" charset="0"/>
                <a:ea typeface="Poppins" pitchFamily="34" charset="-122"/>
                <a:cs typeface="Poppins" pitchFamily="34" charset="-120"/>
              </a:rPr>
              <a:t>Smart Contract Eligibility Engine</a:t>
            </a:r>
            <a:endParaRPr lang="en-US" sz="3500" dirty="0"/>
          </a:p>
        </p:txBody>
      </p:sp>
      <p:sp>
        <p:nvSpPr>
          <p:cNvPr id="4" name="Text 2"/>
          <p:cNvSpPr/>
          <p:nvPr/>
        </p:nvSpPr>
        <p:spPr>
          <a:xfrm>
            <a:off x="812800" y="3825239"/>
            <a:ext cx="6540500"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E3F5E1"/>
                </a:solidFill>
                <a:latin typeface="Poppins" pitchFamily="34" charset="0"/>
                <a:ea typeface="Poppins" pitchFamily="34" charset="-122"/>
                <a:cs typeface="Poppins" pitchFamily="34" charset="-120"/>
              </a:rPr>
              <a:t>Specialization: [add specialization]</a:t>
            </a:r>
            <a:endParaRPr lang="en-US" sz="1700" dirty="0"/>
          </a:p>
          <a:p>
            <a:pPr marL="0" indent="0" algn="l">
              <a:lnSpc>
                <a:spcPts val="2380"/>
              </a:lnSpc>
              <a:buNone/>
            </a:pPr>
            <a:r>
              <a:rPr lang="en-US" sz="1700" dirty="0">
                <a:solidFill>
                  <a:srgbClr val="E3F5E1"/>
                </a:solidFill>
                <a:latin typeface="Poppins" pitchFamily="34" charset="0"/>
                <a:ea typeface="Poppins" pitchFamily="34" charset="-122"/>
                <a:cs typeface="Poppins" pitchFamily="34" charset="-120"/>
              </a:rPr>
              <a:t>DID + AI-assisted KYC, welfare eligibility</a:t>
            </a:r>
            <a:endParaRPr lang="en-US" sz="1700" dirty="0"/>
          </a:p>
        </p:txBody>
      </p:sp>
      <p:pic>
        <p:nvPicPr>
          <p:cNvPr id="5" name="Image 0" descr="Tharushika A.J.M.H"/>
          <p:cNvPicPr>
            <a:picLocks noChangeAspect="1"/>
          </p:cNvPicPr>
          <p:nvPr/>
        </p:nvPicPr>
        <p:blipFill>
          <a:blip r:embed="rId3"/>
          <a:srcRect/>
          <a:stretch/>
        </p:blipFill>
        <p:spPr>
          <a:xfrm>
            <a:off x="8585200" y="1651000"/>
            <a:ext cx="2794000" cy="2794000"/>
          </a:xfrm>
          <a:prstGeom prst="ellipse">
            <a:avLst/>
          </a:prstGeom>
        </p:spPr>
      </p:pic>
      <p:sp>
        <p:nvSpPr>
          <p:cNvPr id="6" name="Text 3"/>
          <p:cNvSpPr/>
          <p:nvPr/>
        </p:nvSpPr>
        <p:spPr>
          <a:xfrm>
            <a:off x="812800" y="6238239"/>
            <a:ext cx="98107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[IT number]  |  Tharushika A.J.M.H  |  R26-IT-017</a:t>
            </a:r>
            <a:endParaRPr lang="en-US" sz="1200" dirty="0"/>
          </a:p>
        </p:txBody>
      </p:sp>
      <p:sp>
        <p:nvSpPr>
          <p:cNvPr id="7" name="Text 4"/>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BBE3F"/>
                </a:solidFill>
                <a:latin typeface="Poppins" pitchFamily="34" charset="0"/>
                <a:ea typeface="Poppins" pitchFamily="34" charset="-122"/>
                <a:cs typeface="Poppins" pitchFamily="34" charset="-120"/>
              </a:rPr>
              <a:t>Smart Contract Eligibility Engine</a:t>
            </a:r>
            <a:endParaRPr lang="en-US" sz="3000" dirty="0"/>
          </a:p>
        </p:txBody>
      </p:sp>
      <p:sp>
        <p:nvSpPr>
          <p:cNvPr id="3" name="Shape 1"/>
          <p:cNvSpPr/>
          <p:nvPr/>
        </p:nvSpPr>
        <p:spPr>
          <a:xfrm>
            <a:off x="812800" y="1485900"/>
            <a:ext cx="5181600" cy="2620010"/>
          </a:xfrm>
          <a:prstGeom prst="roundRect">
            <a:avLst>
              <a:gd name="adj" fmla="val 4847"/>
            </a:avLst>
          </a:prstGeom>
          <a:solidFill>
            <a:srgbClr val="F3F5F1"/>
          </a:solidFill>
          <a:ln/>
        </p:spPr>
      </p:sp>
      <p:sp>
        <p:nvSpPr>
          <p:cNvPr id="4" name="Text 2"/>
          <p:cNvSpPr/>
          <p:nvPr/>
        </p:nvSpPr>
        <p:spPr>
          <a:xfrm>
            <a:off x="1041400" y="1714500"/>
            <a:ext cx="4866132" cy="5435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How the solution addresses the sub-problem</a:t>
            </a:r>
            <a:endParaRPr lang="en-US" sz="1700" dirty="0"/>
          </a:p>
        </p:txBody>
      </p:sp>
      <p:sp>
        <p:nvSpPr>
          <p:cNvPr id="5" name="Text 3"/>
          <p:cNvSpPr/>
          <p:nvPr/>
        </p:nvSpPr>
        <p:spPr>
          <a:xfrm>
            <a:off x="1106170" y="2334261"/>
            <a:ext cx="4793742" cy="1568450"/>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Citizens resubmit the same documents and officers assess eligibility by hand</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DID with AI-assisted KYC verifies identity once and reuses it</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Smart contracts apply welfare and micro-loan rules automatically</a:t>
            </a:r>
            <a:endParaRPr lang="en-US" sz="1500" dirty="0"/>
          </a:p>
        </p:txBody>
      </p:sp>
      <p:sp>
        <p:nvSpPr>
          <p:cNvPr id="6" name="Shape 4"/>
          <p:cNvSpPr/>
          <p:nvPr/>
        </p:nvSpPr>
        <p:spPr>
          <a:xfrm>
            <a:off x="6197600" y="1485900"/>
            <a:ext cx="5181600" cy="2620010"/>
          </a:xfrm>
          <a:prstGeom prst="roundRect">
            <a:avLst>
              <a:gd name="adj" fmla="val 4847"/>
            </a:avLst>
          </a:prstGeom>
          <a:solidFill>
            <a:srgbClr val="F3F5F1"/>
          </a:solidFill>
          <a:ln/>
        </p:spPr>
      </p:sp>
      <p:sp>
        <p:nvSpPr>
          <p:cNvPr id="7" name="Text 5"/>
          <p:cNvSpPr/>
          <p:nvPr/>
        </p:nvSpPr>
        <p:spPr>
          <a:xfrm>
            <a:off x="6426200" y="1714500"/>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User requirements addressed</a:t>
            </a:r>
            <a:endParaRPr lang="en-US" sz="1700" dirty="0"/>
          </a:p>
        </p:txBody>
      </p:sp>
      <p:sp>
        <p:nvSpPr>
          <p:cNvPr id="8" name="Text 6"/>
          <p:cNvSpPr/>
          <p:nvPr/>
        </p:nvSpPr>
        <p:spPr>
          <a:xfrm>
            <a:off x="6490970" y="2075182"/>
            <a:ext cx="4793742" cy="1054100"/>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Faster eligibility decisions with less manual work</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Fair, rule-based and transparent outcomes</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No repeated verification of citizen information</a:t>
            </a:r>
            <a:endParaRPr lang="en-US" sz="1500" dirty="0"/>
          </a:p>
        </p:txBody>
      </p:sp>
      <p:sp>
        <p:nvSpPr>
          <p:cNvPr id="9" name="Text 7"/>
          <p:cNvSpPr/>
          <p:nvPr/>
        </p:nvSpPr>
        <p:spPr>
          <a:xfrm>
            <a:off x="812800" y="6238242"/>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10" name="Text 8"/>
          <p:cNvSpPr/>
          <p:nvPr/>
        </p:nvSpPr>
        <p:spPr>
          <a:xfrm>
            <a:off x="4787900" y="6238242"/>
            <a:ext cx="26162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FC8B0"/>
                </a:solidFill>
                <a:latin typeface="Poppins" pitchFamily="34" charset="0"/>
                <a:ea typeface="Poppins" pitchFamily="34" charset="-122"/>
                <a:cs typeface="Poppins" pitchFamily="34" charset="-120"/>
              </a:rPr>
              <a:t>R26-IT-017</a:t>
            </a:r>
            <a:endParaRPr lang="en-US" sz="1200" dirty="0"/>
          </a:p>
        </p:txBody>
      </p:sp>
      <p:sp>
        <p:nvSpPr>
          <p:cNvPr id="11" name="Text 9"/>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BBE3F"/>
                </a:solidFill>
                <a:latin typeface="Poppins" pitchFamily="34" charset="0"/>
                <a:ea typeface="Poppins" pitchFamily="34" charset="-122"/>
                <a:cs typeface="Poppins" pitchFamily="34" charset="-120"/>
              </a:rPr>
              <a:t>Smart Contract Eligibility Engine</a:t>
            </a:r>
            <a:endParaRPr lang="en-US" sz="3000" dirty="0"/>
          </a:p>
        </p:txBody>
      </p:sp>
      <p:sp>
        <p:nvSpPr>
          <p:cNvPr id="3" name="Shape 1"/>
          <p:cNvSpPr/>
          <p:nvPr/>
        </p:nvSpPr>
        <p:spPr>
          <a:xfrm>
            <a:off x="812800" y="1485900"/>
            <a:ext cx="5181600" cy="2360930"/>
          </a:xfrm>
          <a:prstGeom prst="roundRect">
            <a:avLst>
              <a:gd name="adj" fmla="val 5379"/>
            </a:avLst>
          </a:prstGeom>
          <a:solidFill>
            <a:srgbClr val="F3F5F1"/>
          </a:solidFill>
          <a:ln/>
        </p:spPr>
      </p:sp>
      <p:sp>
        <p:nvSpPr>
          <p:cNvPr id="4" name="Text 2"/>
          <p:cNvSpPr/>
          <p:nvPr/>
        </p:nvSpPr>
        <p:spPr>
          <a:xfrm>
            <a:off x="1041400" y="1714500"/>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Design excellence and contribution</a:t>
            </a:r>
            <a:endParaRPr lang="en-US" sz="1700" dirty="0"/>
          </a:p>
        </p:txBody>
      </p:sp>
      <p:sp>
        <p:nvSpPr>
          <p:cNvPr id="5" name="Text 3"/>
          <p:cNvSpPr/>
          <p:nvPr/>
        </p:nvSpPr>
        <p:spPr>
          <a:xfrm>
            <a:off x="1106170" y="2075179"/>
            <a:ext cx="4793742" cy="1568450"/>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Eligibility rules coded as auditable smart contracts</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One trusted identity for citizens, officers and banks</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Connected to the AI, NLP and blockchain components</a:t>
            </a:r>
            <a:endParaRPr lang="en-US" sz="1500" dirty="0"/>
          </a:p>
        </p:txBody>
      </p:sp>
      <p:sp>
        <p:nvSpPr>
          <p:cNvPr id="6" name="Shape 4"/>
          <p:cNvSpPr/>
          <p:nvPr/>
        </p:nvSpPr>
        <p:spPr>
          <a:xfrm>
            <a:off x="6197600" y="1485900"/>
            <a:ext cx="5181600" cy="2360930"/>
          </a:xfrm>
          <a:prstGeom prst="roundRect">
            <a:avLst>
              <a:gd name="adj" fmla="val 5379"/>
            </a:avLst>
          </a:prstGeom>
          <a:solidFill>
            <a:srgbClr val="F3F5F1"/>
          </a:solidFill>
          <a:ln/>
        </p:spPr>
      </p:sp>
      <p:sp>
        <p:nvSpPr>
          <p:cNvPr id="7" name="Text 5"/>
          <p:cNvSpPr/>
          <p:nvPr/>
        </p:nvSpPr>
        <p:spPr>
          <a:xfrm>
            <a:off x="6426200" y="1714500"/>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User feedback on prototype</a:t>
            </a:r>
            <a:endParaRPr lang="en-US" sz="1700" dirty="0"/>
          </a:p>
        </p:txBody>
      </p:sp>
      <p:sp>
        <p:nvSpPr>
          <p:cNvPr id="8" name="Text 6"/>
          <p:cNvSpPr/>
          <p:nvPr/>
        </p:nvSpPr>
        <p:spPr>
          <a:xfrm>
            <a:off x="6490970" y="2075179"/>
            <a:ext cx="4793742" cy="1311275"/>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Prototype shown to users during system validation</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Focus: login ease and clarity of eligibility results</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[Add the feedback you recorded]</a:t>
            </a:r>
            <a:endParaRPr lang="en-US" sz="1500" dirty="0"/>
          </a:p>
        </p:txBody>
      </p:sp>
      <p:sp>
        <p:nvSpPr>
          <p:cNvPr id="9" name="Text 7"/>
          <p:cNvSpPr/>
          <p:nvPr/>
        </p:nvSpPr>
        <p:spPr>
          <a:xfrm>
            <a:off x="812800" y="6238242"/>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10" name="Text 8"/>
          <p:cNvSpPr/>
          <p:nvPr/>
        </p:nvSpPr>
        <p:spPr>
          <a:xfrm>
            <a:off x="4787900" y="6238242"/>
            <a:ext cx="26162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FC8B0"/>
                </a:solidFill>
                <a:latin typeface="Poppins" pitchFamily="34" charset="0"/>
                <a:ea typeface="Poppins" pitchFamily="34" charset="-122"/>
                <a:cs typeface="Poppins" pitchFamily="34" charset="-120"/>
              </a:rPr>
              <a:t>R26-IT-017</a:t>
            </a:r>
            <a:endParaRPr lang="en-US" sz="1200" dirty="0"/>
          </a:p>
        </p:txBody>
      </p:sp>
      <p:sp>
        <p:nvSpPr>
          <p:cNvPr id="11" name="Text 9"/>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261F"/>
        </a:solidFill>
        <a:effectLst/>
      </p:bgPr>
    </p:bg>
    <p:spTree>
      <p:nvGrpSpPr>
        <p:cNvPr id="1" name=""/>
        <p:cNvGrpSpPr/>
        <p:nvPr/>
      </p:nvGrpSpPr>
      <p:grpSpPr>
        <a:xfrm>
          <a:off x="0" y="0"/>
          <a:ext cx="0" cy="0"/>
          <a:chOff x="0" y="0"/>
          <a:chExt cx="0" cy="0"/>
        </a:xfrm>
      </p:grpSpPr>
      <p:sp>
        <p:nvSpPr>
          <p:cNvPr id="2" name="Text 0"/>
          <p:cNvSpPr/>
          <p:nvPr/>
        </p:nvSpPr>
        <p:spPr>
          <a:xfrm>
            <a:off x="812800" y="2225042"/>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9FC8B0"/>
                </a:solidFill>
                <a:latin typeface="Poppins" pitchFamily="34" charset="0"/>
                <a:ea typeface="Poppins" pitchFamily="34" charset="-122"/>
                <a:cs typeface="Poppins" pitchFamily="34" charset="-120"/>
              </a:rPr>
              <a:t>Individual component</a:t>
            </a:r>
            <a:endParaRPr lang="en-US" sz="1500" dirty="0"/>
          </a:p>
        </p:txBody>
      </p:sp>
      <p:sp>
        <p:nvSpPr>
          <p:cNvPr id="3" name="Text 1"/>
          <p:cNvSpPr>
            <a:spLocks noGrp="1"/>
          </p:cNvSpPr>
          <p:nvPr>
            <p:ph type="title"/>
          </p:nvPr>
        </p:nvSpPr>
        <p:spPr>
          <a:xfrm>
            <a:off x="812800" y="2669542"/>
            <a:ext cx="6540500" cy="1003300"/>
          </a:xfrm>
          <a:prstGeom prst="rect">
            <a:avLst/>
          </a:prstGeom>
          <a:noFill/>
          <a:ln/>
        </p:spPr>
        <p:txBody>
          <a:bodyPr wrap="square" lIns="0" tIns="0" rIns="0" bIns="0" rtlCol="0" anchor="t">
            <a:normAutofit/>
          </a:bodyPr>
          <a:lstStyle/>
          <a:p>
            <a:pPr marL="0" indent="0" algn="l">
              <a:lnSpc>
                <a:spcPts val="3850"/>
              </a:lnSpc>
              <a:buNone/>
            </a:pPr>
            <a:r>
              <a:rPr lang="en-US" sz="3500" b="1" i="0" dirty="0">
                <a:solidFill>
                  <a:srgbClr val="2BBE3F"/>
                </a:solidFill>
                <a:latin typeface="Poppins" pitchFamily="34" charset="0"/>
                <a:ea typeface="Poppins" pitchFamily="34" charset="-122"/>
                <a:cs typeface="Poppins" pitchFamily="34" charset="-120"/>
              </a:rPr>
              <a:t>AI Loan and Repayment Prediction</a:t>
            </a:r>
            <a:endParaRPr lang="en-US" sz="3500" dirty="0"/>
          </a:p>
        </p:txBody>
      </p:sp>
      <p:sp>
        <p:nvSpPr>
          <p:cNvPr id="4" name="Text 2"/>
          <p:cNvSpPr/>
          <p:nvPr/>
        </p:nvSpPr>
        <p:spPr>
          <a:xfrm>
            <a:off x="812800" y="3825242"/>
            <a:ext cx="6540500"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E3F5E1"/>
                </a:solidFill>
                <a:latin typeface="Poppins" pitchFamily="34" charset="0"/>
                <a:ea typeface="Poppins" pitchFamily="34" charset="-122"/>
                <a:cs typeface="Poppins" pitchFamily="34" charset="-120"/>
              </a:rPr>
              <a:t>Specialization: [add specialization]</a:t>
            </a:r>
            <a:endParaRPr lang="en-US" sz="1700" dirty="0"/>
          </a:p>
          <a:p>
            <a:pPr marL="0" indent="0" algn="l">
              <a:lnSpc>
                <a:spcPts val="2380"/>
              </a:lnSpc>
              <a:buNone/>
            </a:pPr>
            <a:r>
              <a:rPr lang="en-US" sz="1700" dirty="0">
                <a:solidFill>
                  <a:srgbClr val="E3F5E1"/>
                </a:solidFill>
                <a:latin typeface="Poppins" pitchFamily="34" charset="0"/>
                <a:ea typeface="Poppins" pitchFamily="34" charset="-122"/>
                <a:cs typeface="Poppins" pitchFamily="34" charset="-120"/>
              </a:rPr>
              <a:t>AI-based risk and repayment prediction</a:t>
            </a:r>
            <a:endParaRPr lang="en-US" sz="1700" dirty="0"/>
          </a:p>
        </p:txBody>
      </p:sp>
      <p:pic>
        <p:nvPicPr>
          <p:cNvPr id="5" name="Image 0" descr="Dissanayaka D.M.Y.R"/>
          <p:cNvPicPr>
            <a:picLocks noChangeAspect="1"/>
          </p:cNvPicPr>
          <p:nvPr/>
        </p:nvPicPr>
        <p:blipFill>
          <a:blip r:embed="rId3"/>
          <a:srcRect/>
          <a:stretch/>
        </p:blipFill>
        <p:spPr>
          <a:xfrm>
            <a:off x="8585200" y="1651000"/>
            <a:ext cx="2794000" cy="2794000"/>
          </a:xfrm>
          <a:prstGeom prst="ellipse">
            <a:avLst/>
          </a:prstGeom>
        </p:spPr>
      </p:pic>
      <p:sp>
        <p:nvSpPr>
          <p:cNvPr id="6" name="Text 3"/>
          <p:cNvSpPr/>
          <p:nvPr/>
        </p:nvSpPr>
        <p:spPr>
          <a:xfrm>
            <a:off x="812800" y="6238242"/>
            <a:ext cx="98107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[IT number]  |  Dissanayaka D.M.Y.R  |  R26-IT-017</a:t>
            </a:r>
            <a:endParaRPr lang="en-US" sz="1200" dirty="0"/>
          </a:p>
        </p:txBody>
      </p:sp>
      <p:sp>
        <p:nvSpPr>
          <p:cNvPr id="7" name="Text 4"/>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BBE3F"/>
                </a:solidFill>
                <a:latin typeface="Poppins" pitchFamily="34" charset="0"/>
                <a:ea typeface="Poppins" pitchFamily="34" charset="-122"/>
                <a:cs typeface="Poppins" pitchFamily="34" charset="-120"/>
              </a:rPr>
              <a:t>AI Loan and Repayment Prediction</a:t>
            </a:r>
            <a:endParaRPr lang="en-US" sz="3000" dirty="0"/>
          </a:p>
        </p:txBody>
      </p:sp>
      <p:sp>
        <p:nvSpPr>
          <p:cNvPr id="3" name="Shape 1"/>
          <p:cNvSpPr/>
          <p:nvPr/>
        </p:nvSpPr>
        <p:spPr>
          <a:xfrm>
            <a:off x="812800" y="1485900"/>
            <a:ext cx="5181600" cy="2620010"/>
          </a:xfrm>
          <a:prstGeom prst="roundRect">
            <a:avLst>
              <a:gd name="adj" fmla="val 4847"/>
            </a:avLst>
          </a:prstGeom>
          <a:solidFill>
            <a:srgbClr val="F3F5F1"/>
          </a:solidFill>
          <a:ln/>
        </p:spPr>
      </p:sp>
      <p:sp>
        <p:nvSpPr>
          <p:cNvPr id="4" name="Text 2"/>
          <p:cNvSpPr/>
          <p:nvPr/>
        </p:nvSpPr>
        <p:spPr>
          <a:xfrm>
            <a:off x="1041400" y="1714500"/>
            <a:ext cx="4866132" cy="5435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How the solution addresses the sub-problem</a:t>
            </a:r>
            <a:endParaRPr lang="en-US" sz="1700" dirty="0"/>
          </a:p>
        </p:txBody>
      </p:sp>
      <p:sp>
        <p:nvSpPr>
          <p:cNvPr id="5" name="Text 3"/>
          <p:cNvSpPr/>
          <p:nvPr/>
        </p:nvSpPr>
        <p:spPr>
          <a:xfrm>
            <a:off x="1106170" y="2334264"/>
            <a:ext cx="4793742" cy="1568450"/>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Loans are approved without predictive checks, so vulnerable citizens fall into debt traps</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AI predicts risk level and repayment ability from applicant data</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Officers receive a decision recommendation to support approval</a:t>
            </a:r>
            <a:endParaRPr lang="en-US" sz="1500" dirty="0"/>
          </a:p>
        </p:txBody>
      </p:sp>
      <p:sp>
        <p:nvSpPr>
          <p:cNvPr id="6" name="Shape 4"/>
          <p:cNvSpPr/>
          <p:nvPr/>
        </p:nvSpPr>
        <p:spPr>
          <a:xfrm>
            <a:off x="6197600" y="1485900"/>
            <a:ext cx="5181600" cy="2620010"/>
          </a:xfrm>
          <a:prstGeom prst="roundRect">
            <a:avLst>
              <a:gd name="adj" fmla="val 4847"/>
            </a:avLst>
          </a:prstGeom>
          <a:solidFill>
            <a:srgbClr val="F3F5F1"/>
          </a:solidFill>
          <a:ln/>
        </p:spPr>
      </p:sp>
      <p:sp>
        <p:nvSpPr>
          <p:cNvPr id="7" name="Text 5"/>
          <p:cNvSpPr/>
          <p:nvPr/>
        </p:nvSpPr>
        <p:spPr>
          <a:xfrm>
            <a:off x="6426200" y="1714500"/>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User requirements addressed</a:t>
            </a:r>
            <a:endParaRPr lang="en-US" sz="1700" dirty="0"/>
          </a:p>
        </p:txBody>
      </p:sp>
      <p:sp>
        <p:nvSpPr>
          <p:cNvPr id="8" name="Text 6"/>
          <p:cNvSpPr/>
          <p:nvPr/>
        </p:nvSpPr>
        <p:spPr>
          <a:xfrm>
            <a:off x="6490970" y="2075179"/>
            <a:ext cx="4793742" cy="796925"/>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Loans that borrowers can realistically repay</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Quicker, more consistent loan decisions</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Fewer risky or fraudulent approvals</a:t>
            </a:r>
            <a:endParaRPr lang="en-US" sz="1500" dirty="0"/>
          </a:p>
        </p:txBody>
      </p:sp>
      <p:sp>
        <p:nvSpPr>
          <p:cNvPr id="9" name="Text 7"/>
          <p:cNvSpPr/>
          <p:nvPr/>
        </p:nvSpPr>
        <p:spPr>
          <a:xfrm>
            <a:off x="812800" y="6238242"/>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10" name="Text 8"/>
          <p:cNvSpPr/>
          <p:nvPr/>
        </p:nvSpPr>
        <p:spPr>
          <a:xfrm>
            <a:off x="4787900" y="6238242"/>
            <a:ext cx="26162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FC8B0"/>
                </a:solidFill>
                <a:latin typeface="Poppins" pitchFamily="34" charset="0"/>
                <a:ea typeface="Poppins" pitchFamily="34" charset="-122"/>
                <a:cs typeface="Poppins" pitchFamily="34" charset="-120"/>
              </a:rPr>
              <a:t>R26-IT-017</a:t>
            </a:r>
            <a:endParaRPr lang="en-US" sz="1200" dirty="0"/>
          </a:p>
        </p:txBody>
      </p:sp>
      <p:sp>
        <p:nvSpPr>
          <p:cNvPr id="11" name="Text 9"/>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BBE3F"/>
                </a:solidFill>
                <a:latin typeface="Poppins" pitchFamily="34" charset="0"/>
                <a:ea typeface="Poppins" pitchFamily="34" charset="-122"/>
                <a:cs typeface="Poppins" pitchFamily="34" charset="-120"/>
              </a:rPr>
              <a:t>AI Loan and Repayment Prediction</a:t>
            </a:r>
            <a:endParaRPr lang="en-US" sz="3000" dirty="0"/>
          </a:p>
        </p:txBody>
      </p:sp>
      <p:sp>
        <p:nvSpPr>
          <p:cNvPr id="3" name="Shape 1"/>
          <p:cNvSpPr/>
          <p:nvPr/>
        </p:nvSpPr>
        <p:spPr>
          <a:xfrm>
            <a:off x="812800" y="1485900"/>
            <a:ext cx="5181600" cy="2103755"/>
          </a:xfrm>
          <a:prstGeom prst="roundRect">
            <a:avLst>
              <a:gd name="adj" fmla="val 6037"/>
            </a:avLst>
          </a:prstGeom>
          <a:solidFill>
            <a:srgbClr val="F3F5F1"/>
          </a:solidFill>
          <a:ln/>
        </p:spPr>
      </p:sp>
      <p:sp>
        <p:nvSpPr>
          <p:cNvPr id="4" name="Text 2"/>
          <p:cNvSpPr/>
          <p:nvPr/>
        </p:nvSpPr>
        <p:spPr>
          <a:xfrm>
            <a:off x="1041400" y="1714500"/>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Design excellence and contribution</a:t>
            </a:r>
            <a:endParaRPr lang="en-US" sz="1700" dirty="0"/>
          </a:p>
        </p:txBody>
      </p:sp>
      <p:sp>
        <p:nvSpPr>
          <p:cNvPr id="5" name="Text 3"/>
          <p:cNvSpPr/>
          <p:nvPr/>
        </p:nvSpPr>
        <p:spPr>
          <a:xfrm>
            <a:off x="1106170" y="2075179"/>
            <a:ext cx="4793742" cy="1054100"/>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Risk level prediction plus decision recommendation</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Built on data collected during field visits</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Supports officers rather than replacing them</a:t>
            </a:r>
            <a:endParaRPr lang="en-US" sz="1500" dirty="0"/>
          </a:p>
        </p:txBody>
      </p:sp>
      <p:sp>
        <p:nvSpPr>
          <p:cNvPr id="6" name="Shape 4"/>
          <p:cNvSpPr/>
          <p:nvPr/>
        </p:nvSpPr>
        <p:spPr>
          <a:xfrm>
            <a:off x="6197600" y="1485900"/>
            <a:ext cx="5181600" cy="2103755"/>
          </a:xfrm>
          <a:prstGeom prst="roundRect">
            <a:avLst>
              <a:gd name="adj" fmla="val 6037"/>
            </a:avLst>
          </a:prstGeom>
          <a:solidFill>
            <a:srgbClr val="F3F5F1"/>
          </a:solidFill>
          <a:ln/>
        </p:spPr>
      </p:sp>
      <p:sp>
        <p:nvSpPr>
          <p:cNvPr id="7" name="Text 5"/>
          <p:cNvSpPr/>
          <p:nvPr/>
        </p:nvSpPr>
        <p:spPr>
          <a:xfrm>
            <a:off x="6426200" y="1714500"/>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User feedback on prototype</a:t>
            </a:r>
            <a:endParaRPr lang="en-US" sz="1700" dirty="0"/>
          </a:p>
        </p:txBody>
      </p:sp>
      <p:sp>
        <p:nvSpPr>
          <p:cNvPr id="8" name="Text 6"/>
          <p:cNvSpPr/>
          <p:nvPr/>
        </p:nvSpPr>
        <p:spPr>
          <a:xfrm>
            <a:off x="6490970" y="2075179"/>
            <a:ext cx="4793742" cy="1311275"/>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Prototype shown to users during system validation</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Focus: clarity of risk level and recommendation</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[Add the feedback you recorded]</a:t>
            </a:r>
            <a:endParaRPr lang="en-US" sz="1500" dirty="0"/>
          </a:p>
        </p:txBody>
      </p:sp>
      <p:sp>
        <p:nvSpPr>
          <p:cNvPr id="9" name="Text 7"/>
          <p:cNvSpPr/>
          <p:nvPr/>
        </p:nvSpPr>
        <p:spPr>
          <a:xfrm>
            <a:off x="812800" y="6238242"/>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10" name="Text 8"/>
          <p:cNvSpPr/>
          <p:nvPr/>
        </p:nvSpPr>
        <p:spPr>
          <a:xfrm>
            <a:off x="4787900" y="6238242"/>
            <a:ext cx="26162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FC8B0"/>
                </a:solidFill>
                <a:latin typeface="Poppins" pitchFamily="34" charset="0"/>
                <a:ea typeface="Poppins" pitchFamily="34" charset="-122"/>
                <a:cs typeface="Poppins" pitchFamily="34" charset="-120"/>
              </a:rPr>
              <a:t>R26-IT-017</a:t>
            </a:r>
            <a:endParaRPr lang="en-US" sz="1200" dirty="0"/>
          </a:p>
        </p:txBody>
      </p:sp>
      <p:sp>
        <p:nvSpPr>
          <p:cNvPr id="11" name="Text 9"/>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61F"/>
        </a:solidFill>
        <a:effectLst/>
      </p:bgPr>
    </p:bg>
    <p:spTree>
      <p:nvGrpSpPr>
        <p:cNvPr id="1" name=""/>
        <p:cNvGrpSpPr/>
        <p:nvPr/>
      </p:nvGrpSpPr>
      <p:grpSpPr>
        <a:xfrm>
          <a:off x="0" y="0"/>
          <a:ext cx="0" cy="0"/>
          <a:chOff x="0" y="0"/>
          <a:chExt cx="0" cy="0"/>
        </a:xfrm>
      </p:grpSpPr>
      <p:sp>
        <p:nvSpPr>
          <p:cNvPr id="2" name="Text 0"/>
          <p:cNvSpPr/>
          <p:nvPr/>
        </p:nvSpPr>
        <p:spPr>
          <a:xfrm>
            <a:off x="812800" y="2225042"/>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9FC8B0"/>
                </a:solidFill>
                <a:latin typeface="Poppins" pitchFamily="34" charset="0"/>
                <a:ea typeface="Poppins" pitchFamily="34" charset="-122"/>
                <a:cs typeface="Poppins" pitchFamily="34" charset="-120"/>
              </a:rPr>
              <a:t>Individual component</a:t>
            </a:r>
            <a:endParaRPr lang="en-US" sz="1500" dirty="0"/>
          </a:p>
        </p:txBody>
      </p:sp>
      <p:sp>
        <p:nvSpPr>
          <p:cNvPr id="3" name="Text 1"/>
          <p:cNvSpPr>
            <a:spLocks noGrp="1"/>
          </p:cNvSpPr>
          <p:nvPr>
            <p:ph type="title"/>
          </p:nvPr>
        </p:nvSpPr>
        <p:spPr>
          <a:xfrm>
            <a:off x="812800" y="2669542"/>
            <a:ext cx="6540500" cy="1003300"/>
          </a:xfrm>
          <a:prstGeom prst="rect">
            <a:avLst/>
          </a:prstGeom>
          <a:noFill/>
          <a:ln/>
        </p:spPr>
        <p:txBody>
          <a:bodyPr wrap="square" lIns="0" tIns="0" rIns="0" bIns="0" rtlCol="0" anchor="t">
            <a:normAutofit/>
          </a:bodyPr>
          <a:lstStyle/>
          <a:p>
            <a:pPr marL="0" indent="0" algn="l">
              <a:lnSpc>
                <a:spcPts val="3850"/>
              </a:lnSpc>
              <a:buNone/>
            </a:pPr>
            <a:r>
              <a:rPr lang="en-US" sz="3500" b="1" i="0" dirty="0">
                <a:solidFill>
                  <a:srgbClr val="2BBE3F"/>
                </a:solidFill>
                <a:latin typeface="Poppins" pitchFamily="34" charset="0"/>
                <a:ea typeface="Poppins" pitchFamily="34" charset="-122"/>
                <a:cs typeface="Poppins" pitchFamily="34" charset="-120"/>
              </a:rPr>
              <a:t>Multilingual NLP / RAG Assistant</a:t>
            </a:r>
            <a:endParaRPr lang="en-US" sz="3500" dirty="0"/>
          </a:p>
        </p:txBody>
      </p:sp>
      <p:sp>
        <p:nvSpPr>
          <p:cNvPr id="4" name="Text 2"/>
          <p:cNvSpPr/>
          <p:nvPr/>
        </p:nvSpPr>
        <p:spPr>
          <a:xfrm>
            <a:off x="812800" y="3825242"/>
            <a:ext cx="6540500"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E3F5E1"/>
                </a:solidFill>
                <a:latin typeface="Poppins" pitchFamily="34" charset="0"/>
                <a:ea typeface="Poppins" pitchFamily="34" charset="-122"/>
                <a:cs typeface="Poppins" pitchFamily="34" charset="-120"/>
              </a:rPr>
              <a:t>Specialization: [add specialization]</a:t>
            </a:r>
            <a:endParaRPr lang="en-US" sz="1700" dirty="0"/>
          </a:p>
          <a:p>
            <a:pPr marL="0" indent="0" algn="l">
              <a:lnSpc>
                <a:spcPts val="2380"/>
              </a:lnSpc>
              <a:buNone/>
            </a:pPr>
            <a:r>
              <a:rPr lang="en-US" sz="1700" dirty="0">
                <a:solidFill>
                  <a:srgbClr val="E3F5E1"/>
                </a:solidFill>
                <a:latin typeface="Poppins" pitchFamily="34" charset="0"/>
                <a:ea typeface="Poppins" pitchFamily="34" charset="-122"/>
                <a:cs typeface="Poppins" pitchFamily="34" charset="-120"/>
              </a:rPr>
              <a:t>Natural language processing, speech and retrieval</a:t>
            </a:r>
            <a:endParaRPr lang="en-US" sz="1700" dirty="0"/>
          </a:p>
        </p:txBody>
      </p:sp>
      <p:pic>
        <p:nvPicPr>
          <p:cNvPr id="5" name="Image 0" descr="Muthukumarana H.T.D.E"/>
          <p:cNvPicPr>
            <a:picLocks noChangeAspect="1"/>
          </p:cNvPicPr>
          <p:nvPr/>
        </p:nvPicPr>
        <p:blipFill>
          <a:blip r:embed="rId3"/>
          <a:srcRect/>
          <a:stretch/>
        </p:blipFill>
        <p:spPr>
          <a:xfrm>
            <a:off x="8585200" y="1651000"/>
            <a:ext cx="2794000" cy="2794000"/>
          </a:xfrm>
          <a:prstGeom prst="ellipse">
            <a:avLst/>
          </a:prstGeom>
        </p:spPr>
      </p:pic>
      <p:sp>
        <p:nvSpPr>
          <p:cNvPr id="6" name="Text 3"/>
          <p:cNvSpPr/>
          <p:nvPr/>
        </p:nvSpPr>
        <p:spPr>
          <a:xfrm>
            <a:off x="812800" y="6238242"/>
            <a:ext cx="98107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[IT number]  |  Muthukumarana H.T.D.E  |  R26-IT-017</a:t>
            </a:r>
            <a:endParaRPr lang="en-US" sz="1200" dirty="0"/>
          </a:p>
        </p:txBody>
      </p:sp>
      <p:sp>
        <p:nvSpPr>
          <p:cNvPr id="7" name="Text 4"/>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BBE3F"/>
                </a:solidFill>
                <a:latin typeface="Poppins" pitchFamily="34" charset="0"/>
                <a:ea typeface="Poppins" pitchFamily="34" charset="-122"/>
                <a:cs typeface="Poppins" pitchFamily="34" charset="-120"/>
              </a:rPr>
              <a:t>Multilingual NLP / RAG Assistant</a:t>
            </a:r>
            <a:endParaRPr lang="en-US" sz="3000" dirty="0"/>
          </a:p>
        </p:txBody>
      </p:sp>
      <p:sp>
        <p:nvSpPr>
          <p:cNvPr id="3" name="Shape 1"/>
          <p:cNvSpPr/>
          <p:nvPr/>
        </p:nvSpPr>
        <p:spPr>
          <a:xfrm>
            <a:off x="812800" y="1485900"/>
            <a:ext cx="5181600" cy="2620010"/>
          </a:xfrm>
          <a:prstGeom prst="roundRect">
            <a:avLst>
              <a:gd name="adj" fmla="val 4847"/>
            </a:avLst>
          </a:prstGeom>
          <a:solidFill>
            <a:srgbClr val="F3F5F1"/>
          </a:solidFill>
          <a:ln/>
        </p:spPr>
      </p:sp>
      <p:sp>
        <p:nvSpPr>
          <p:cNvPr id="4" name="Text 2"/>
          <p:cNvSpPr/>
          <p:nvPr/>
        </p:nvSpPr>
        <p:spPr>
          <a:xfrm>
            <a:off x="1041400" y="1714500"/>
            <a:ext cx="4866132" cy="5435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How the solution addresses the sub-problem</a:t>
            </a:r>
            <a:endParaRPr lang="en-US" sz="1700" dirty="0"/>
          </a:p>
        </p:txBody>
      </p:sp>
      <p:sp>
        <p:nvSpPr>
          <p:cNvPr id="5" name="Text 3"/>
          <p:cNvSpPr/>
          <p:nvPr/>
        </p:nvSpPr>
        <p:spPr>
          <a:xfrm>
            <a:off x="1106170" y="2334264"/>
            <a:ext cx="4793742" cy="1568450"/>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Language and system complexity make services hard to understand</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A multilingual chatbot explains welfare and loan services</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RAG retrieves answers from the SmartGrama knowledge base</a:t>
            </a:r>
            <a:endParaRPr lang="en-US" sz="1500" dirty="0"/>
          </a:p>
        </p:txBody>
      </p:sp>
      <p:sp>
        <p:nvSpPr>
          <p:cNvPr id="6" name="Shape 4"/>
          <p:cNvSpPr/>
          <p:nvPr/>
        </p:nvSpPr>
        <p:spPr>
          <a:xfrm>
            <a:off x="6197600" y="1485900"/>
            <a:ext cx="5181600" cy="2620010"/>
          </a:xfrm>
          <a:prstGeom prst="roundRect">
            <a:avLst>
              <a:gd name="adj" fmla="val 4847"/>
            </a:avLst>
          </a:prstGeom>
          <a:solidFill>
            <a:srgbClr val="F3F5F1"/>
          </a:solidFill>
          <a:ln/>
        </p:spPr>
      </p:sp>
      <p:sp>
        <p:nvSpPr>
          <p:cNvPr id="7" name="Text 5"/>
          <p:cNvSpPr/>
          <p:nvPr/>
        </p:nvSpPr>
        <p:spPr>
          <a:xfrm>
            <a:off x="6426200" y="1714500"/>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User requirements addressed</a:t>
            </a:r>
            <a:endParaRPr lang="en-US" sz="1700" dirty="0"/>
          </a:p>
        </p:txBody>
      </p:sp>
      <p:sp>
        <p:nvSpPr>
          <p:cNvPr id="8" name="Text 6"/>
          <p:cNvSpPr/>
          <p:nvPr/>
        </p:nvSpPr>
        <p:spPr>
          <a:xfrm>
            <a:off x="6490970" y="2075179"/>
            <a:ext cx="4793742" cy="796925"/>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Understand services and requirements easily</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Interact in the local language by voice or text</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Guided application process</a:t>
            </a:r>
            <a:endParaRPr lang="en-US" sz="1500" dirty="0"/>
          </a:p>
        </p:txBody>
      </p:sp>
      <p:sp>
        <p:nvSpPr>
          <p:cNvPr id="9" name="Text 7"/>
          <p:cNvSpPr/>
          <p:nvPr/>
        </p:nvSpPr>
        <p:spPr>
          <a:xfrm>
            <a:off x="812800" y="6238242"/>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10" name="Text 8"/>
          <p:cNvSpPr/>
          <p:nvPr/>
        </p:nvSpPr>
        <p:spPr>
          <a:xfrm>
            <a:off x="4787900" y="6238242"/>
            <a:ext cx="26162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FC8B0"/>
                </a:solidFill>
                <a:latin typeface="Poppins" pitchFamily="34" charset="0"/>
                <a:ea typeface="Poppins" pitchFamily="34" charset="-122"/>
                <a:cs typeface="Poppins" pitchFamily="34" charset="-120"/>
              </a:rPr>
              <a:t>R26-IT-017</a:t>
            </a:r>
            <a:endParaRPr lang="en-US" sz="1200" dirty="0"/>
          </a:p>
        </p:txBody>
      </p:sp>
      <p:sp>
        <p:nvSpPr>
          <p:cNvPr id="11" name="Text 9"/>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BBE3F"/>
                </a:solidFill>
                <a:latin typeface="Poppins" pitchFamily="34" charset="0"/>
                <a:ea typeface="Poppins" pitchFamily="34" charset="-122"/>
                <a:cs typeface="Poppins" pitchFamily="34" charset="-120"/>
              </a:rPr>
              <a:t>Multilingual NLP / RAG Assistant</a:t>
            </a:r>
            <a:endParaRPr lang="en-US" sz="3000" dirty="0"/>
          </a:p>
        </p:txBody>
      </p:sp>
      <p:sp>
        <p:nvSpPr>
          <p:cNvPr id="3" name="Shape 1"/>
          <p:cNvSpPr/>
          <p:nvPr/>
        </p:nvSpPr>
        <p:spPr>
          <a:xfrm>
            <a:off x="812800" y="1485900"/>
            <a:ext cx="5181600" cy="2103755"/>
          </a:xfrm>
          <a:prstGeom prst="roundRect">
            <a:avLst>
              <a:gd name="adj" fmla="val 6037"/>
            </a:avLst>
          </a:prstGeom>
          <a:solidFill>
            <a:srgbClr val="F3F5F1"/>
          </a:solidFill>
          <a:ln/>
        </p:spPr>
      </p:sp>
      <p:sp>
        <p:nvSpPr>
          <p:cNvPr id="4" name="Text 2"/>
          <p:cNvSpPr/>
          <p:nvPr/>
        </p:nvSpPr>
        <p:spPr>
          <a:xfrm>
            <a:off x="1041400" y="1714500"/>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Design excellence and contribution</a:t>
            </a:r>
            <a:endParaRPr lang="en-US" sz="1700" dirty="0"/>
          </a:p>
        </p:txBody>
      </p:sp>
      <p:sp>
        <p:nvSpPr>
          <p:cNvPr id="5" name="Text 3"/>
          <p:cNvSpPr/>
          <p:nvPr/>
        </p:nvSpPr>
        <p:spPr>
          <a:xfrm>
            <a:off x="1106170" y="2075179"/>
            <a:ext cx="4793742" cy="796925"/>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Sinhala and English translation</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Voice and speech interaction</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SmartGrama knowledge retrieval</a:t>
            </a:r>
            <a:endParaRPr lang="en-US" sz="1500" dirty="0"/>
          </a:p>
        </p:txBody>
      </p:sp>
      <p:sp>
        <p:nvSpPr>
          <p:cNvPr id="6" name="Shape 4"/>
          <p:cNvSpPr/>
          <p:nvPr/>
        </p:nvSpPr>
        <p:spPr>
          <a:xfrm>
            <a:off x="6197600" y="1485900"/>
            <a:ext cx="5181600" cy="2103755"/>
          </a:xfrm>
          <a:prstGeom prst="roundRect">
            <a:avLst>
              <a:gd name="adj" fmla="val 6037"/>
            </a:avLst>
          </a:prstGeom>
          <a:solidFill>
            <a:srgbClr val="F3F5F1"/>
          </a:solidFill>
          <a:ln/>
        </p:spPr>
      </p:sp>
      <p:sp>
        <p:nvSpPr>
          <p:cNvPr id="7" name="Text 5"/>
          <p:cNvSpPr/>
          <p:nvPr/>
        </p:nvSpPr>
        <p:spPr>
          <a:xfrm>
            <a:off x="6426200" y="1714500"/>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User feedback on prototype</a:t>
            </a:r>
            <a:endParaRPr lang="en-US" sz="1700" dirty="0"/>
          </a:p>
        </p:txBody>
      </p:sp>
      <p:sp>
        <p:nvSpPr>
          <p:cNvPr id="8" name="Text 6"/>
          <p:cNvSpPr/>
          <p:nvPr/>
        </p:nvSpPr>
        <p:spPr>
          <a:xfrm>
            <a:off x="6490970" y="2075179"/>
            <a:ext cx="4793742" cy="1311275"/>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Prototype shown to users during system validation</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Focus: relevance of assistant responses (human evaluation)</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[Add the feedback you recorded]</a:t>
            </a:r>
            <a:endParaRPr lang="en-US" sz="1500" dirty="0"/>
          </a:p>
        </p:txBody>
      </p:sp>
      <p:sp>
        <p:nvSpPr>
          <p:cNvPr id="9" name="Text 7"/>
          <p:cNvSpPr/>
          <p:nvPr/>
        </p:nvSpPr>
        <p:spPr>
          <a:xfrm>
            <a:off x="812800" y="6238242"/>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10" name="Text 8"/>
          <p:cNvSpPr/>
          <p:nvPr/>
        </p:nvSpPr>
        <p:spPr>
          <a:xfrm>
            <a:off x="4787900" y="6238242"/>
            <a:ext cx="26162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FC8B0"/>
                </a:solidFill>
                <a:latin typeface="Poppins" pitchFamily="34" charset="0"/>
                <a:ea typeface="Poppins" pitchFamily="34" charset="-122"/>
                <a:cs typeface="Poppins" pitchFamily="34" charset="-120"/>
              </a:rPr>
              <a:t>R26-IT-017</a:t>
            </a:r>
            <a:endParaRPr lang="en-US" sz="1200" dirty="0"/>
          </a:p>
        </p:txBody>
      </p:sp>
      <p:sp>
        <p:nvSpPr>
          <p:cNvPr id="11" name="Text 9"/>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61F"/>
        </a:solidFill>
        <a:effectLst/>
      </p:bgPr>
    </p:bg>
    <p:spTree>
      <p:nvGrpSpPr>
        <p:cNvPr id="1" name=""/>
        <p:cNvGrpSpPr/>
        <p:nvPr/>
      </p:nvGrpSpPr>
      <p:grpSpPr>
        <a:xfrm>
          <a:off x="0" y="0"/>
          <a:ext cx="0" cy="0"/>
          <a:chOff x="0" y="0"/>
          <a:chExt cx="0" cy="0"/>
        </a:xfrm>
      </p:grpSpPr>
      <p:sp>
        <p:nvSpPr>
          <p:cNvPr id="2" name="Text 0"/>
          <p:cNvSpPr/>
          <p:nvPr/>
        </p:nvSpPr>
        <p:spPr>
          <a:xfrm>
            <a:off x="812800" y="2225042"/>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9FC8B0"/>
                </a:solidFill>
                <a:latin typeface="Poppins" pitchFamily="34" charset="0"/>
                <a:ea typeface="Poppins" pitchFamily="34" charset="-122"/>
                <a:cs typeface="Poppins" pitchFamily="34" charset="-120"/>
              </a:rPr>
              <a:t>Individual component</a:t>
            </a:r>
            <a:endParaRPr lang="en-US" sz="1500" dirty="0"/>
          </a:p>
        </p:txBody>
      </p:sp>
      <p:sp>
        <p:nvSpPr>
          <p:cNvPr id="3" name="Text 1"/>
          <p:cNvSpPr>
            <a:spLocks noGrp="1"/>
          </p:cNvSpPr>
          <p:nvPr>
            <p:ph type="title"/>
          </p:nvPr>
        </p:nvSpPr>
        <p:spPr>
          <a:xfrm>
            <a:off x="812800" y="2669542"/>
            <a:ext cx="6540500" cy="1003300"/>
          </a:xfrm>
          <a:prstGeom prst="rect">
            <a:avLst/>
          </a:prstGeom>
          <a:noFill/>
          <a:ln/>
        </p:spPr>
        <p:txBody>
          <a:bodyPr wrap="square" lIns="0" tIns="0" rIns="0" bIns="0" rtlCol="0" anchor="t">
            <a:normAutofit/>
          </a:bodyPr>
          <a:lstStyle/>
          <a:p>
            <a:pPr marL="0" indent="0" algn="l">
              <a:lnSpc>
                <a:spcPts val="3850"/>
              </a:lnSpc>
              <a:buNone/>
            </a:pPr>
            <a:r>
              <a:rPr lang="en-US" sz="3500" b="1" i="0" dirty="0">
                <a:solidFill>
                  <a:srgbClr val="2BBE3F"/>
                </a:solidFill>
                <a:latin typeface="Poppins" pitchFamily="34" charset="0"/>
                <a:ea typeface="Poppins" pitchFamily="34" charset="-122"/>
                <a:cs typeface="Poppins" pitchFamily="34" charset="-120"/>
              </a:rPr>
              <a:t>Blockchain Distributed Data Layer</a:t>
            </a:r>
            <a:endParaRPr lang="en-US" sz="3500" dirty="0"/>
          </a:p>
        </p:txBody>
      </p:sp>
      <p:sp>
        <p:nvSpPr>
          <p:cNvPr id="4" name="Text 2"/>
          <p:cNvSpPr/>
          <p:nvPr/>
        </p:nvSpPr>
        <p:spPr>
          <a:xfrm>
            <a:off x="812800" y="3825242"/>
            <a:ext cx="6540500"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E3F5E1"/>
                </a:solidFill>
                <a:latin typeface="Poppins" pitchFamily="34" charset="0"/>
                <a:ea typeface="Poppins" pitchFamily="34" charset="-122"/>
                <a:cs typeface="Poppins" pitchFamily="34" charset="-120"/>
              </a:rPr>
              <a:t>Specialization: [add specialization]</a:t>
            </a:r>
            <a:endParaRPr lang="en-US" sz="1700" dirty="0"/>
          </a:p>
          <a:p>
            <a:pPr marL="0" indent="0" algn="l">
              <a:lnSpc>
                <a:spcPts val="2380"/>
              </a:lnSpc>
              <a:buNone/>
            </a:pPr>
            <a:r>
              <a:rPr lang="en-US" sz="1700" dirty="0">
                <a:solidFill>
                  <a:srgbClr val="E3F5E1"/>
                </a:solidFill>
                <a:latin typeface="Poppins" pitchFamily="34" charset="0"/>
                <a:ea typeface="Poppins" pitchFamily="34" charset="-122"/>
                <a:cs typeface="Poppins" pitchFamily="34" charset="-120"/>
              </a:rPr>
              <a:t>Blockchain-based data management</a:t>
            </a:r>
            <a:endParaRPr lang="en-US" sz="1700" dirty="0"/>
          </a:p>
        </p:txBody>
      </p:sp>
      <p:pic>
        <p:nvPicPr>
          <p:cNvPr id="5" name="Image 0" descr="Jayasinghe A.I"/>
          <p:cNvPicPr>
            <a:picLocks noChangeAspect="1"/>
          </p:cNvPicPr>
          <p:nvPr/>
        </p:nvPicPr>
        <p:blipFill>
          <a:blip r:embed="rId3"/>
          <a:srcRect/>
          <a:stretch/>
        </p:blipFill>
        <p:spPr>
          <a:xfrm>
            <a:off x="8585200" y="1651000"/>
            <a:ext cx="2794000" cy="2794000"/>
          </a:xfrm>
          <a:prstGeom prst="ellipse">
            <a:avLst/>
          </a:prstGeom>
        </p:spPr>
      </p:pic>
      <p:sp>
        <p:nvSpPr>
          <p:cNvPr id="6" name="Text 3"/>
          <p:cNvSpPr/>
          <p:nvPr/>
        </p:nvSpPr>
        <p:spPr>
          <a:xfrm>
            <a:off x="812800" y="6238242"/>
            <a:ext cx="98107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IT22552310  |  Jayasinghe A.I  |  R26-IT-017</a:t>
            </a:r>
            <a:endParaRPr lang="en-US" sz="1200" dirty="0"/>
          </a:p>
        </p:txBody>
      </p:sp>
      <p:sp>
        <p:nvSpPr>
          <p:cNvPr id="7" name="Text 4"/>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BBE3F"/>
                </a:solidFill>
                <a:latin typeface="Poppins" pitchFamily="34" charset="0"/>
                <a:ea typeface="Poppins" pitchFamily="34" charset="-122"/>
                <a:cs typeface="Poppins" pitchFamily="34" charset="-120"/>
              </a:rPr>
              <a:t>Blockchain Distributed Data Layer</a:t>
            </a:r>
            <a:endParaRPr lang="en-US" sz="3000" dirty="0"/>
          </a:p>
        </p:txBody>
      </p:sp>
      <p:sp>
        <p:nvSpPr>
          <p:cNvPr id="3" name="Shape 1"/>
          <p:cNvSpPr/>
          <p:nvPr/>
        </p:nvSpPr>
        <p:spPr>
          <a:xfrm>
            <a:off x="812800" y="1485900"/>
            <a:ext cx="5181600" cy="2620010"/>
          </a:xfrm>
          <a:prstGeom prst="roundRect">
            <a:avLst>
              <a:gd name="adj" fmla="val 4847"/>
            </a:avLst>
          </a:prstGeom>
          <a:solidFill>
            <a:srgbClr val="F3F5F1"/>
          </a:solidFill>
          <a:ln/>
        </p:spPr>
      </p:sp>
      <p:sp>
        <p:nvSpPr>
          <p:cNvPr id="4" name="Text 2"/>
          <p:cNvSpPr/>
          <p:nvPr/>
        </p:nvSpPr>
        <p:spPr>
          <a:xfrm>
            <a:off x="1041400" y="1714500"/>
            <a:ext cx="4866132" cy="5435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How the solution addresses the sub-problem</a:t>
            </a:r>
            <a:endParaRPr lang="en-US" sz="1700" dirty="0"/>
          </a:p>
        </p:txBody>
      </p:sp>
      <p:sp>
        <p:nvSpPr>
          <p:cNvPr id="5" name="Text 3"/>
          <p:cNvSpPr/>
          <p:nvPr/>
        </p:nvSpPr>
        <p:spPr>
          <a:xfrm>
            <a:off x="1106170" y="2334258"/>
            <a:ext cx="4793742" cy="1568450"/>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Fragmented, manual records are open to fraud and tampering</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On-chain and off-chain storage keeps records tamper-evident</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Inter-bank verification shares trusted records across institutions</a:t>
            </a:r>
            <a:endParaRPr lang="en-US" sz="1500" dirty="0"/>
          </a:p>
        </p:txBody>
      </p:sp>
      <p:sp>
        <p:nvSpPr>
          <p:cNvPr id="6" name="Shape 4"/>
          <p:cNvSpPr/>
          <p:nvPr/>
        </p:nvSpPr>
        <p:spPr>
          <a:xfrm>
            <a:off x="6197600" y="1485900"/>
            <a:ext cx="5181600" cy="2620010"/>
          </a:xfrm>
          <a:prstGeom prst="roundRect">
            <a:avLst>
              <a:gd name="adj" fmla="val 4847"/>
            </a:avLst>
          </a:prstGeom>
          <a:solidFill>
            <a:srgbClr val="F3F5F1"/>
          </a:solidFill>
          <a:ln/>
        </p:spPr>
      </p:sp>
      <p:sp>
        <p:nvSpPr>
          <p:cNvPr id="7" name="Text 5"/>
          <p:cNvSpPr/>
          <p:nvPr/>
        </p:nvSpPr>
        <p:spPr>
          <a:xfrm>
            <a:off x="6426200" y="1714500"/>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User requirements addressed</a:t>
            </a:r>
            <a:endParaRPr lang="en-US" sz="1700" dirty="0"/>
          </a:p>
        </p:txBody>
      </p:sp>
      <p:sp>
        <p:nvSpPr>
          <p:cNvPr id="8" name="Text 6"/>
          <p:cNvSpPr/>
          <p:nvPr/>
        </p:nvSpPr>
        <p:spPr>
          <a:xfrm>
            <a:off x="6490970" y="2075185"/>
            <a:ext cx="4793742" cy="1054100"/>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Secure, tamper-proof records</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Transparent processes for officers and institutions</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Verified records without repeated submission</a:t>
            </a:r>
            <a:endParaRPr lang="en-US" sz="1500" dirty="0"/>
          </a:p>
        </p:txBody>
      </p:sp>
      <p:sp>
        <p:nvSpPr>
          <p:cNvPr id="9" name="Text 7"/>
          <p:cNvSpPr/>
          <p:nvPr/>
        </p:nvSpPr>
        <p:spPr>
          <a:xfrm>
            <a:off x="812800" y="6238242"/>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10" name="Text 8"/>
          <p:cNvSpPr/>
          <p:nvPr/>
        </p:nvSpPr>
        <p:spPr>
          <a:xfrm>
            <a:off x="4787900" y="6238242"/>
            <a:ext cx="26162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FC8B0"/>
                </a:solidFill>
                <a:latin typeface="Poppins" pitchFamily="34" charset="0"/>
                <a:ea typeface="Poppins" pitchFamily="34" charset="-122"/>
                <a:cs typeface="Poppins" pitchFamily="34" charset="-120"/>
              </a:rPr>
              <a:t>R26-IT-017</a:t>
            </a:r>
            <a:endParaRPr lang="en-US" sz="1200" dirty="0"/>
          </a:p>
        </p:txBody>
      </p:sp>
      <p:sp>
        <p:nvSpPr>
          <p:cNvPr id="11" name="Text 9"/>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BBE3F"/>
                </a:solidFill>
                <a:latin typeface="Poppins" pitchFamily="34" charset="0"/>
                <a:ea typeface="Poppins" pitchFamily="34" charset="-122"/>
                <a:cs typeface="Poppins" pitchFamily="34" charset="-120"/>
              </a:rPr>
              <a:t>Blockchain Distributed Data Layer</a:t>
            </a:r>
            <a:endParaRPr lang="en-US" sz="3000" dirty="0"/>
          </a:p>
        </p:txBody>
      </p:sp>
      <p:sp>
        <p:nvSpPr>
          <p:cNvPr id="3" name="Shape 1"/>
          <p:cNvSpPr/>
          <p:nvPr/>
        </p:nvSpPr>
        <p:spPr>
          <a:xfrm>
            <a:off x="812800" y="1485900"/>
            <a:ext cx="5181600" cy="1846580"/>
          </a:xfrm>
          <a:prstGeom prst="roundRect">
            <a:avLst>
              <a:gd name="adj" fmla="val 6878"/>
            </a:avLst>
          </a:prstGeom>
          <a:solidFill>
            <a:srgbClr val="F3F5F1"/>
          </a:solidFill>
          <a:ln/>
        </p:spPr>
      </p:sp>
      <p:sp>
        <p:nvSpPr>
          <p:cNvPr id="4" name="Text 2"/>
          <p:cNvSpPr/>
          <p:nvPr/>
        </p:nvSpPr>
        <p:spPr>
          <a:xfrm>
            <a:off x="1041400" y="1714500"/>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Design excellence and contribution</a:t>
            </a:r>
            <a:endParaRPr lang="en-US" sz="1700" dirty="0"/>
          </a:p>
        </p:txBody>
      </p:sp>
      <p:sp>
        <p:nvSpPr>
          <p:cNvPr id="5" name="Text 3"/>
          <p:cNvSpPr/>
          <p:nvPr/>
        </p:nvSpPr>
        <p:spPr>
          <a:xfrm>
            <a:off x="1106170" y="2075185"/>
            <a:ext cx="4793742" cy="1054100"/>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OnChain and OffChain data storing</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InterBank verification</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Transaction integrity checked against on-chain data</a:t>
            </a:r>
            <a:endParaRPr lang="en-US" sz="1500" dirty="0"/>
          </a:p>
        </p:txBody>
      </p:sp>
      <p:sp>
        <p:nvSpPr>
          <p:cNvPr id="6" name="Shape 4"/>
          <p:cNvSpPr/>
          <p:nvPr/>
        </p:nvSpPr>
        <p:spPr>
          <a:xfrm>
            <a:off x="6197600" y="1485900"/>
            <a:ext cx="5181600" cy="1846580"/>
          </a:xfrm>
          <a:prstGeom prst="roundRect">
            <a:avLst>
              <a:gd name="adj" fmla="val 6878"/>
            </a:avLst>
          </a:prstGeom>
          <a:solidFill>
            <a:srgbClr val="F3F5F1"/>
          </a:solidFill>
          <a:ln/>
        </p:spPr>
      </p:sp>
      <p:sp>
        <p:nvSpPr>
          <p:cNvPr id="7" name="Text 5"/>
          <p:cNvSpPr/>
          <p:nvPr/>
        </p:nvSpPr>
        <p:spPr>
          <a:xfrm>
            <a:off x="6426200" y="1714500"/>
            <a:ext cx="48661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User feedback on prototype</a:t>
            </a:r>
            <a:endParaRPr lang="en-US" sz="1700" dirty="0"/>
          </a:p>
        </p:txBody>
      </p:sp>
      <p:sp>
        <p:nvSpPr>
          <p:cNvPr id="8" name="Text 6"/>
          <p:cNvSpPr/>
          <p:nvPr/>
        </p:nvSpPr>
        <p:spPr>
          <a:xfrm>
            <a:off x="6490970" y="2075185"/>
            <a:ext cx="4793742" cy="1054100"/>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Prototype shown to users during system validation</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Focus: records matching on-chain data</a:t>
            </a:r>
            <a:endParaRPr lang="en-US" sz="1500" dirty="0"/>
          </a:p>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[Add the feedback you recorded]</a:t>
            </a:r>
            <a:endParaRPr lang="en-US" sz="1500" dirty="0"/>
          </a:p>
        </p:txBody>
      </p:sp>
      <p:sp>
        <p:nvSpPr>
          <p:cNvPr id="9" name="Text 7"/>
          <p:cNvSpPr/>
          <p:nvPr/>
        </p:nvSpPr>
        <p:spPr>
          <a:xfrm>
            <a:off x="812800" y="6238242"/>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10" name="Text 8"/>
          <p:cNvSpPr/>
          <p:nvPr/>
        </p:nvSpPr>
        <p:spPr>
          <a:xfrm>
            <a:off x="4787900" y="6238242"/>
            <a:ext cx="26162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FC8B0"/>
                </a:solidFill>
                <a:latin typeface="Poppins" pitchFamily="34" charset="0"/>
                <a:ea typeface="Poppins" pitchFamily="34" charset="-122"/>
                <a:cs typeface="Poppins" pitchFamily="34" charset="-120"/>
              </a:rPr>
              <a:t>R26-IT-017</a:t>
            </a:r>
            <a:endParaRPr lang="en-US" sz="1200" dirty="0"/>
          </a:p>
        </p:txBody>
      </p:sp>
      <p:sp>
        <p:nvSpPr>
          <p:cNvPr id="11" name="Text 9"/>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2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61695"/>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BBE3F"/>
                </a:solidFill>
                <a:latin typeface="Poppins" pitchFamily="34" charset="0"/>
                <a:ea typeface="Poppins" pitchFamily="34" charset="-122"/>
                <a:cs typeface="Poppins" pitchFamily="34" charset="-120"/>
              </a:rPr>
              <a:t>Secure Microfinance and Welfare Platform: Commercialization</a:t>
            </a:r>
            <a:endParaRPr lang="en-US" sz="3000" dirty="0"/>
          </a:p>
        </p:txBody>
      </p:sp>
      <p:sp>
        <p:nvSpPr>
          <p:cNvPr id="3" name="Shape 1"/>
          <p:cNvSpPr/>
          <p:nvPr/>
        </p:nvSpPr>
        <p:spPr>
          <a:xfrm>
            <a:off x="812800" y="1903102"/>
            <a:ext cx="5181600" cy="1842452"/>
          </a:xfrm>
          <a:prstGeom prst="roundRect">
            <a:avLst>
              <a:gd name="adj" fmla="val 6893"/>
            </a:avLst>
          </a:prstGeom>
          <a:solidFill>
            <a:srgbClr val="F3F5F1"/>
          </a:solidFill>
          <a:ln/>
        </p:spPr>
      </p:sp>
      <p:sp>
        <p:nvSpPr>
          <p:cNvPr id="4" name="Text 2"/>
          <p:cNvSpPr/>
          <p:nvPr/>
        </p:nvSpPr>
        <p:spPr>
          <a:xfrm>
            <a:off x="1041400" y="2131702"/>
            <a:ext cx="4866132" cy="283686"/>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Commercialization and sustainability</a:t>
            </a:r>
            <a:endParaRPr lang="en-US" sz="1700" dirty="0"/>
          </a:p>
        </p:txBody>
      </p:sp>
      <p:sp>
        <p:nvSpPr>
          <p:cNvPr id="5" name="Text 3"/>
          <p:cNvSpPr/>
          <p:nvPr/>
        </p:nvSpPr>
        <p:spPr>
          <a:xfrm>
            <a:off x="1112591" y="2491581"/>
            <a:ext cx="4787321" cy="1050766"/>
          </a:xfrm>
          <a:prstGeom prst="rect">
            <a:avLst/>
          </a:prstGeom>
          <a:noFill/>
          <a:ln/>
        </p:spPr>
        <p:txBody>
          <a:bodyPr wrap="square" lIns="0" tIns="0" rIns="0" bIns="0" rtlCol="0" anchor="t">
            <a:normAutofit/>
          </a:bodyPr>
          <a:lstStyle/>
          <a:p>
            <a:pPr marL="182809" indent="-182809" algn="l">
              <a:lnSpc>
                <a:spcPts val="2012"/>
              </a:lnSpc>
              <a:buSzPct val="100000"/>
              <a:buChar char="•"/>
            </a:pPr>
            <a:r>
              <a:rPr lang="en-US" sz="1491" dirty="0">
                <a:solidFill>
                  <a:srgbClr val="0F2A24"/>
                </a:solidFill>
                <a:latin typeface="Poppins" pitchFamily="34" charset="0"/>
                <a:ea typeface="Poppins" pitchFamily="34" charset="-122"/>
                <a:cs typeface="Poppins" pitchFamily="34" charset="-120"/>
              </a:rPr>
              <a:t>Training plans: Basic (3 days), Intermediate (1 week), Advanced (3 weeks)</a:t>
            </a:r>
            <a:endParaRPr lang="en-US" sz="1491" dirty="0"/>
          </a:p>
          <a:p>
            <a:pPr marL="182809" indent="-182809" algn="l">
              <a:lnSpc>
                <a:spcPts val="2012"/>
              </a:lnSpc>
              <a:buSzPct val="100000"/>
              <a:buChar char="•"/>
            </a:pPr>
            <a:r>
              <a:rPr lang="en-US" sz="1491" dirty="0">
                <a:solidFill>
                  <a:srgbClr val="0F2A24"/>
                </a:solidFill>
                <a:latin typeface="Poppins" pitchFamily="34" charset="0"/>
                <a:ea typeface="Poppins" pitchFamily="34" charset="-122"/>
                <a:cs typeface="Poppins" pitchFamily="34" charset="-120"/>
              </a:rPr>
              <a:t>User manuals, leaflets and trained staff support</a:t>
            </a:r>
            <a:endParaRPr lang="en-US" sz="1491" dirty="0"/>
          </a:p>
        </p:txBody>
      </p:sp>
      <p:sp>
        <p:nvSpPr>
          <p:cNvPr id="6" name="Shape 4"/>
          <p:cNvSpPr/>
          <p:nvPr/>
        </p:nvSpPr>
        <p:spPr>
          <a:xfrm>
            <a:off x="6197600" y="1903102"/>
            <a:ext cx="5181600" cy="1842452"/>
          </a:xfrm>
          <a:prstGeom prst="roundRect">
            <a:avLst>
              <a:gd name="adj" fmla="val 6893"/>
            </a:avLst>
          </a:prstGeom>
          <a:solidFill>
            <a:srgbClr val="F3F5F1"/>
          </a:solidFill>
          <a:ln/>
        </p:spPr>
      </p:sp>
      <p:sp>
        <p:nvSpPr>
          <p:cNvPr id="7" name="Text 5"/>
          <p:cNvSpPr/>
          <p:nvPr/>
        </p:nvSpPr>
        <p:spPr>
          <a:xfrm>
            <a:off x="6426200" y="2131702"/>
            <a:ext cx="4866132" cy="283686"/>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Customer persona</a:t>
            </a:r>
            <a:endParaRPr lang="en-US" sz="1700" dirty="0"/>
          </a:p>
        </p:txBody>
      </p:sp>
      <p:sp>
        <p:nvSpPr>
          <p:cNvPr id="8" name="Text 6"/>
          <p:cNvSpPr/>
          <p:nvPr/>
        </p:nvSpPr>
        <p:spPr>
          <a:xfrm>
            <a:off x="6497391" y="2491581"/>
            <a:ext cx="4787321" cy="1050766"/>
          </a:xfrm>
          <a:prstGeom prst="rect">
            <a:avLst/>
          </a:prstGeom>
          <a:noFill/>
          <a:ln/>
        </p:spPr>
        <p:txBody>
          <a:bodyPr wrap="square" lIns="0" tIns="0" rIns="0" bIns="0" rtlCol="0" anchor="t">
            <a:normAutofit/>
          </a:bodyPr>
          <a:lstStyle/>
          <a:p>
            <a:pPr marL="182809" indent="-182809" algn="l">
              <a:lnSpc>
                <a:spcPts val="2012"/>
              </a:lnSpc>
              <a:buSzPct val="100000"/>
              <a:buChar char="•"/>
            </a:pPr>
            <a:r>
              <a:rPr lang="en-US" sz="1491" dirty="0">
                <a:solidFill>
                  <a:srgbClr val="0F2A24"/>
                </a:solidFill>
                <a:latin typeface="Poppins" pitchFamily="34" charset="0"/>
                <a:ea typeface="Poppins" pitchFamily="34" charset="-122"/>
                <a:cs typeface="Poppins" pitchFamily="34" charset="-120"/>
              </a:rPr>
              <a:t>Rural citizen applying for welfare or a micro-loan who needs local-language help</a:t>
            </a:r>
            <a:endParaRPr lang="en-US" sz="1491" dirty="0"/>
          </a:p>
          <a:p>
            <a:pPr marL="182809" indent="-182809" algn="l">
              <a:lnSpc>
                <a:spcPts val="2012"/>
              </a:lnSpc>
              <a:buSzPct val="100000"/>
              <a:buChar char="•"/>
            </a:pPr>
            <a:r>
              <a:rPr lang="en-US" sz="1491" dirty="0">
                <a:solidFill>
                  <a:srgbClr val="0F2A24"/>
                </a:solidFill>
                <a:latin typeface="Poppins" pitchFamily="34" charset="0"/>
                <a:ea typeface="Poppins" pitchFamily="34" charset="-122"/>
                <a:cs typeface="Poppins" pitchFamily="34" charset="-120"/>
              </a:rPr>
              <a:t>Officers and financial institutions who verify and decide</a:t>
            </a:r>
            <a:endParaRPr lang="en-US" sz="1491" dirty="0"/>
          </a:p>
        </p:txBody>
      </p:sp>
      <p:sp>
        <p:nvSpPr>
          <p:cNvPr id="11" name="Text 9"/>
          <p:cNvSpPr/>
          <p:nvPr/>
        </p:nvSpPr>
        <p:spPr>
          <a:xfrm>
            <a:off x="1106170" y="4588830"/>
            <a:ext cx="2979816" cy="796925"/>
          </a:xfrm>
          <a:prstGeom prst="rect">
            <a:avLst/>
          </a:prstGeom>
          <a:noFill/>
          <a:ln/>
        </p:spPr>
        <p:txBody>
          <a:bodyPr wrap="square" lIns="0" tIns="0" rIns="0" bIns="0" rtlCol="0" anchor="t">
            <a:normAutofit/>
          </a:bodyPr>
          <a:lstStyle/>
          <a:p>
            <a:pPr marL="189230" indent="-189230" algn="l">
              <a:lnSpc>
                <a:spcPts val="2025"/>
              </a:lnSpc>
              <a:buSzPct val="100000"/>
              <a:buChar char="•"/>
            </a:pPr>
            <a:r>
              <a:rPr lang="en-US" sz="1500" dirty="0">
                <a:solidFill>
                  <a:srgbClr val="0F2A24"/>
                </a:solidFill>
                <a:latin typeface="Poppins" pitchFamily="34" charset="0"/>
                <a:ea typeface="Poppins" pitchFamily="34" charset="-122"/>
                <a:cs typeface="Poppins" pitchFamily="34" charset="-120"/>
              </a:rPr>
              <a:t>[Add figure and source: rural welfare and micro-loan recipients]</a:t>
            </a:r>
            <a:endParaRPr lang="en-US" sz="1500" dirty="0"/>
          </a:p>
        </p:txBody>
      </p:sp>
      <p:sp>
        <p:nvSpPr>
          <p:cNvPr id="12" name="Shape 10"/>
          <p:cNvSpPr/>
          <p:nvPr/>
        </p:nvSpPr>
        <p:spPr>
          <a:xfrm>
            <a:off x="4385707" y="3999545"/>
            <a:ext cx="3420586" cy="1842452"/>
          </a:xfrm>
          <a:prstGeom prst="roundRect">
            <a:avLst>
              <a:gd name="adj" fmla="val 6893"/>
            </a:avLst>
          </a:prstGeom>
          <a:solidFill>
            <a:srgbClr val="F3F5F1"/>
          </a:solidFill>
          <a:ln/>
        </p:spPr>
      </p:sp>
      <p:sp>
        <p:nvSpPr>
          <p:cNvPr id="13" name="Text 11"/>
          <p:cNvSpPr/>
          <p:nvPr/>
        </p:nvSpPr>
        <p:spPr>
          <a:xfrm>
            <a:off x="4614307" y="4228145"/>
            <a:ext cx="3052288" cy="283686"/>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What is unique</a:t>
            </a:r>
            <a:endParaRPr lang="en-US" sz="1700" dirty="0"/>
          </a:p>
        </p:txBody>
      </p:sp>
      <p:sp>
        <p:nvSpPr>
          <p:cNvPr id="14" name="Text 12"/>
          <p:cNvSpPr/>
          <p:nvPr/>
        </p:nvSpPr>
        <p:spPr>
          <a:xfrm>
            <a:off x="4685499" y="4588036"/>
            <a:ext cx="2973477" cy="1050766"/>
          </a:xfrm>
          <a:prstGeom prst="rect">
            <a:avLst/>
          </a:prstGeom>
          <a:noFill/>
          <a:ln/>
        </p:spPr>
        <p:txBody>
          <a:bodyPr wrap="square" lIns="0" tIns="0" rIns="0" bIns="0" rtlCol="0" anchor="t">
            <a:normAutofit/>
          </a:bodyPr>
          <a:lstStyle/>
          <a:p>
            <a:pPr marL="182809" indent="-182809" algn="l">
              <a:lnSpc>
                <a:spcPts val="2012"/>
              </a:lnSpc>
              <a:buSzPct val="100000"/>
              <a:buChar char="•"/>
            </a:pPr>
            <a:r>
              <a:rPr lang="en-US" sz="1491" dirty="0">
                <a:solidFill>
                  <a:srgbClr val="0F2A24"/>
                </a:solidFill>
                <a:latin typeface="Poppins" pitchFamily="34" charset="0"/>
                <a:ea typeface="Poppins" pitchFamily="34" charset="-122"/>
                <a:cs typeface="Poppins" pitchFamily="34" charset="-120"/>
              </a:rPr>
              <a:t>Welfare and micro-loans in one integrated platform</a:t>
            </a:r>
            <a:endParaRPr lang="en-US" sz="1491" dirty="0"/>
          </a:p>
          <a:p>
            <a:pPr marL="182809" indent="-182809" algn="l">
              <a:lnSpc>
                <a:spcPts val="2012"/>
              </a:lnSpc>
              <a:buSzPct val="100000"/>
              <a:buChar char="•"/>
            </a:pPr>
            <a:r>
              <a:rPr lang="en-US" sz="1491" dirty="0">
                <a:solidFill>
                  <a:srgbClr val="0F2A24"/>
                </a:solidFill>
                <a:latin typeface="Poppins" pitchFamily="34" charset="0"/>
                <a:ea typeface="Poppins" pitchFamily="34" charset="-122"/>
                <a:cs typeface="Poppins" pitchFamily="34" charset="-120"/>
              </a:rPr>
              <a:t>DID, smart contracts, AI and a Sinhala chatbot together</a:t>
            </a:r>
            <a:endParaRPr lang="en-US" sz="1491" dirty="0"/>
          </a:p>
        </p:txBody>
      </p:sp>
      <p:sp>
        <p:nvSpPr>
          <p:cNvPr id="15" name="Shape 13"/>
          <p:cNvSpPr/>
          <p:nvPr/>
        </p:nvSpPr>
        <p:spPr>
          <a:xfrm>
            <a:off x="7958693" y="3999545"/>
            <a:ext cx="3420507" cy="1842452"/>
          </a:xfrm>
          <a:prstGeom prst="roundRect">
            <a:avLst>
              <a:gd name="adj" fmla="val 6893"/>
            </a:avLst>
          </a:prstGeom>
          <a:solidFill>
            <a:srgbClr val="F3F5F1"/>
          </a:solidFill>
          <a:ln/>
        </p:spPr>
      </p:sp>
      <p:sp>
        <p:nvSpPr>
          <p:cNvPr id="16" name="Text 14"/>
          <p:cNvSpPr/>
          <p:nvPr/>
        </p:nvSpPr>
        <p:spPr>
          <a:xfrm>
            <a:off x="8187293" y="4228145"/>
            <a:ext cx="3052206" cy="283686"/>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7A1F"/>
                </a:solidFill>
                <a:latin typeface="Poppins" pitchFamily="34" charset="0"/>
                <a:ea typeface="Poppins" pitchFamily="34" charset="-122"/>
                <a:cs typeface="Poppins" pitchFamily="34" charset="-120"/>
              </a:rPr>
              <a:t>Cost recovery</a:t>
            </a:r>
            <a:endParaRPr lang="en-US" sz="1700" dirty="0"/>
          </a:p>
        </p:txBody>
      </p:sp>
      <p:sp>
        <p:nvSpPr>
          <p:cNvPr id="17" name="Text 15"/>
          <p:cNvSpPr/>
          <p:nvPr/>
        </p:nvSpPr>
        <p:spPr>
          <a:xfrm>
            <a:off x="8258485" y="4588036"/>
            <a:ext cx="2973395" cy="1050766"/>
          </a:xfrm>
          <a:prstGeom prst="rect">
            <a:avLst/>
          </a:prstGeom>
          <a:noFill/>
          <a:ln/>
        </p:spPr>
        <p:txBody>
          <a:bodyPr wrap="square" lIns="0" tIns="0" rIns="0" bIns="0" rtlCol="0" anchor="t">
            <a:normAutofit/>
          </a:bodyPr>
          <a:lstStyle/>
          <a:p>
            <a:pPr marL="182809" indent="-182809" algn="l">
              <a:lnSpc>
                <a:spcPts val="2012"/>
              </a:lnSpc>
              <a:buSzPct val="100000"/>
              <a:buChar char="•"/>
            </a:pPr>
            <a:r>
              <a:rPr lang="en-US" sz="1491" dirty="0">
                <a:solidFill>
                  <a:srgbClr val="0F2A24"/>
                </a:solidFill>
                <a:latin typeface="Poppins" pitchFamily="34" charset="0"/>
                <a:ea typeface="Poppins" pitchFamily="34" charset="-122"/>
                <a:cs typeface="Poppins" pitchFamily="34" charset="-120"/>
              </a:rPr>
              <a:t>Proposed: licensing fees from institutions</a:t>
            </a:r>
            <a:endParaRPr lang="en-US" sz="1491" dirty="0"/>
          </a:p>
          <a:p>
            <a:pPr marL="182809" indent="-182809" algn="l">
              <a:lnSpc>
                <a:spcPts val="2012"/>
              </a:lnSpc>
              <a:buSzPct val="100000"/>
              <a:buChar char="•"/>
            </a:pPr>
            <a:r>
              <a:rPr lang="en-US" sz="1491" dirty="0">
                <a:solidFill>
                  <a:srgbClr val="0F2A24"/>
                </a:solidFill>
                <a:latin typeface="Poppins" pitchFamily="34" charset="0"/>
                <a:ea typeface="Poppins" pitchFamily="34" charset="-122"/>
                <a:cs typeface="Poppins" pitchFamily="34" charset="-120"/>
              </a:rPr>
              <a:t>Paid training and support services</a:t>
            </a:r>
            <a:endParaRPr lang="en-US" sz="1491" dirty="0"/>
          </a:p>
        </p:txBody>
      </p:sp>
      <p:sp>
        <p:nvSpPr>
          <p:cNvPr id="18" name="Text 16"/>
          <p:cNvSpPr/>
          <p:nvPr/>
        </p:nvSpPr>
        <p:spPr>
          <a:xfrm>
            <a:off x="812800" y="6238242"/>
            <a:ext cx="392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8B0"/>
                </a:solidFill>
                <a:latin typeface="Poppins" pitchFamily="34" charset="0"/>
                <a:ea typeface="Poppins" pitchFamily="34" charset="-122"/>
                <a:cs typeface="Poppins" pitchFamily="34" charset="-120"/>
              </a:rPr>
              <a:t>SLIIT Faculty of Computing</a:t>
            </a:r>
            <a:endParaRPr lang="en-US" sz="1200" dirty="0"/>
          </a:p>
        </p:txBody>
      </p:sp>
      <p:sp>
        <p:nvSpPr>
          <p:cNvPr id="19" name="Text 17"/>
          <p:cNvSpPr/>
          <p:nvPr/>
        </p:nvSpPr>
        <p:spPr>
          <a:xfrm>
            <a:off x="4787900" y="6238242"/>
            <a:ext cx="26162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FC8B0"/>
                </a:solidFill>
                <a:latin typeface="Poppins" pitchFamily="34" charset="0"/>
                <a:ea typeface="Poppins" pitchFamily="34" charset="-122"/>
                <a:cs typeface="Poppins" pitchFamily="34" charset="-120"/>
              </a:rPr>
              <a:t>R26-IT-017</a:t>
            </a:r>
            <a:endParaRPr lang="en-US" sz="1200" dirty="0"/>
          </a:p>
        </p:txBody>
      </p:sp>
      <p:sp>
        <p:nvSpPr>
          <p:cNvPr id="20" name="Text 18"/>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C8B0"/>
                </a:solidFill>
                <a:latin typeface="Poppins" pitchFamily="34" charset="0"/>
                <a:ea typeface="Poppins" pitchFamily="34" charset="-122"/>
                <a:cs typeface="Poppins" pitchFamily="34" charset="-120"/>
              </a:rPr>
              <a:t>19</a:t>
            </a:r>
            <a:endParaRPr lang="en-US" sz="1200" dirty="0"/>
          </a:p>
        </p:txBody>
      </p:sp>
    </p:spTree>
  </p:cSld>
  <p:clrMapOvr>
    <a:masterClrMapping/>
  </p:clrMapOvr>
</p:sld>
</file>

<file path=ppt/theme/theme1.xml><?xml version="1.0" encoding="utf-8"?>
<a:theme xmlns:a="http://schemas.openxmlformats.org/drawingml/2006/main" name="SmartGrama - PP1 Presentation (R26-IT-017)">
  <a:themeElements>
    <a:clrScheme name="SmartGrama - PP1 Presentation (R26-IT-017)">
      <a:dk1>
        <a:srgbClr val="00261F"/>
      </a:dk1>
      <a:lt1>
        <a:srgbClr val="2BBE3F"/>
      </a:lt1>
      <a:dk2>
        <a:srgbClr val="043522"/>
      </a:dk2>
      <a:lt2>
        <a:srgbClr val="209837"/>
      </a:lt2>
      <a:accent1>
        <a:srgbClr val="9FC8B0"/>
      </a:accent1>
      <a:accent2>
        <a:srgbClr val="0A7A1F"/>
      </a:accent2>
      <a:accent3>
        <a:srgbClr val="0B4A3C"/>
      </a:accent3>
      <a:accent4>
        <a:srgbClr val="E3F5E1"/>
      </a:accent4>
      <a:accent5>
        <a:srgbClr val="9AA0A6"/>
      </a:accent5>
      <a:accent6>
        <a:srgbClr val="1A8132"/>
      </a:accent6>
      <a:hlink>
        <a:srgbClr val="0563C1"/>
      </a:hlink>
      <a:folHlink>
        <a:srgbClr val="954F72"/>
      </a:folHlink>
    </a:clrScheme>
    <a:fontScheme name="SmartGrama - PP1 Presentation (R26-IT-017)">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1236</Words>
  <Application>Microsoft Office PowerPoint</Application>
  <PresentationFormat>Widescreen</PresentationFormat>
  <Paragraphs>230</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Poppins</vt:lpstr>
      <vt:lpstr>SmartGrama - PP1 Presentation (R26-IT-017)</vt:lpstr>
      <vt:lpstr>Secure Microfinance and Welfare Management Platform using Blockchain and AI</vt:lpstr>
      <vt:lpstr>Research Team</vt:lpstr>
      <vt:lpstr>Proposal Comments and How We Addressed Them</vt:lpstr>
      <vt:lpstr>The Problem and Its Impact</vt:lpstr>
      <vt:lpstr>Who Benefits from the Solution</vt:lpstr>
      <vt:lpstr>Our Proposed Solution</vt:lpstr>
      <vt:lpstr>Smart Contract Eligibility Engine</vt:lpstr>
      <vt:lpstr>Smart Contract Eligibility Engine</vt:lpstr>
      <vt:lpstr>Smart Contract Eligibility Engine</vt:lpstr>
      <vt:lpstr>AI Loan and Repayment Prediction</vt:lpstr>
      <vt:lpstr>AI Loan and Repayment Prediction</vt:lpstr>
      <vt:lpstr>AI Loan and Repayment Prediction</vt:lpstr>
      <vt:lpstr>Multilingual NLP / RAG Assistant</vt:lpstr>
      <vt:lpstr>Multilingual NLP / RAG Assistant</vt:lpstr>
      <vt:lpstr>Multilingual NLP / RAG Assistant</vt:lpstr>
      <vt:lpstr>Blockchain Distributed Data Layer</vt:lpstr>
      <vt:lpstr>Blockchain Distributed Data Layer</vt:lpstr>
      <vt:lpstr>Blockchain Distributed Data Layer</vt:lpstr>
      <vt:lpstr>Secure Microfinance and Welfare Platform: Commercialization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SmartGrama - PP1 Presentation (R26-IT-017)</dc:title>
  <dc:subject/>
  <dc:creator>User</dc:creator>
  <cp:lastModifiedBy>JAYASINGHE A I it22552310</cp:lastModifiedBy>
  <cp:revision>3</cp:revision>
  <dcterms:created xsi:type="dcterms:W3CDTF">2026-10-11T10:50:39Z</dcterms:created>
  <dcterms:modified xsi:type="dcterms:W3CDTF">2026-10-11T11:00:49Z</dcterms:modified>
</cp:coreProperties>
</file>